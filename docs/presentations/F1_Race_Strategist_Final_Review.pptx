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f5158a7a144286" /><Relationship Type="http://schemas.openxmlformats.org/officeDocument/2006/relationships/extended-properties" Target="/docProps/app.xml" Id="R87352a60e1774748" /><Relationship Type="http://schemas.openxmlformats.org/officeDocument/2006/relationships/officeDocument" Target="/ppt/presentation.xml" Id="R12195c37fe30464b" /></Relationships>
</file>

<file path=ppt/presentation.xml><?xml version="1.0" encoding="utf-8"?>
<p:presentation xmlns:p="http://schemas.openxmlformats.org/presentationml/2006/main">
  <p:sldMasterIdLst>
    <p:sldMasterId xmlns:r="http://schemas.openxmlformats.org/officeDocument/2006/relationships" id="2147483648" r:id="R6026e5a8adb841f6"/>
  </p:sldMasterIdLst>
  <p:notesMasterIdLst>
    <p:notesMasterId xmlns:r="http://schemas.openxmlformats.org/officeDocument/2006/relationships" r:id="R585aa2d2a36d4b94"/>
  </p:notesMasterIdLst>
  <p:sldIdLst>
    <p:sldId xmlns:r="http://schemas.openxmlformats.org/officeDocument/2006/relationships" id="256" r:id="Rdf22303a0d6645bd"/>
    <p:sldId xmlns:r="http://schemas.openxmlformats.org/officeDocument/2006/relationships" id="257" r:id="R1f757d263cd94a67"/>
    <p:sldId xmlns:r="http://schemas.openxmlformats.org/officeDocument/2006/relationships" id="258" r:id="R1e609025635e43d9"/>
    <p:sldId xmlns:r="http://schemas.openxmlformats.org/officeDocument/2006/relationships" id="259" r:id="Rf477f5da56844e40"/>
    <p:sldId xmlns:r="http://schemas.openxmlformats.org/officeDocument/2006/relationships" id="260" r:id="R604aba24303541d5"/>
    <p:sldId xmlns:r="http://schemas.openxmlformats.org/officeDocument/2006/relationships" id="261" r:id="Rf2ed0ed4df5d4017"/>
    <p:sldId xmlns:r="http://schemas.openxmlformats.org/officeDocument/2006/relationships" id="262" r:id="R8193abd53e664eb9"/>
    <p:sldId xmlns:r="http://schemas.openxmlformats.org/officeDocument/2006/relationships" id="263" r:id="Rbae125bf81a8477a"/>
    <p:sldId xmlns:r="http://schemas.openxmlformats.org/officeDocument/2006/relationships" id="264" r:id="R54c942b05e384e92"/>
    <p:sldId xmlns:r="http://schemas.openxmlformats.org/officeDocument/2006/relationships" id="265" r:id="R53d52c4351864fbc"/>
    <p:sldId xmlns:r="http://schemas.openxmlformats.org/officeDocument/2006/relationships" id="266" r:id="Rc751b99450a44c94"/>
    <p:sldId xmlns:r="http://schemas.openxmlformats.org/officeDocument/2006/relationships" id="267" r:id="R2da86a8d38f94cd8"/>
    <p:sldId xmlns:r="http://schemas.openxmlformats.org/officeDocument/2006/relationships" id="268" r:id="R60056bf5412c418b"/>
    <p:sldId xmlns:r="http://schemas.openxmlformats.org/officeDocument/2006/relationships" id="269" r:id="R0630c8c1be654297"/>
    <p:sldId xmlns:r="http://schemas.openxmlformats.org/officeDocument/2006/relationships" id="270" r:id="Re88bdece8a7742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02c4c3667241e1" /><Relationship Type="http://schemas.openxmlformats.org/officeDocument/2006/relationships/slideMaster" Target="/ppt/slideMasters/slideMaster1.xml" Id="R6026e5a8adb841f6" /><Relationship Type="http://schemas.openxmlformats.org/officeDocument/2006/relationships/notesMaster" Target="/ppt/notesMasters/notesMaster1.xml" Id="R585aa2d2a36d4b94" /><Relationship Type="http://schemas.openxmlformats.org/officeDocument/2006/relationships/presProps" Target="/ppt/presProps.xml" Id="R063be8695e0a4cce" /><Relationship Type="http://schemas.openxmlformats.org/officeDocument/2006/relationships/tableStyles" Target="/ppt/tableStyles.xml" Id="Rbe36cf34127e408b" /><Relationship Type="http://schemas.openxmlformats.org/officeDocument/2006/relationships/slide" Target="/ppt/slides/slide1.xml" Id="Rdf22303a0d6645bd" /><Relationship Type="http://schemas.openxmlformats.org/officeDocument/2006/relationships/slide" Target="/ppt/slides/slide2.xml" Id="R1f757d263cd94a67" /><Relationship Type="http://schemas.openxmlformats.org/officeDocument/2006/relationships/slide" Target="/ppt/slides/slide3.xml" Id="R1e609025635e43d9" /><Relationship Type="http://schemas.openxmlformats.org/officeDocument/2006/relationships/slide" Target="/ppt/slides/slide4.xml" Id="Rf477f5da56844e40" /><Relationship Type="http://schemas.openxmlformats.org/officeDocument/2006/relationships/slide" Target="/ppt/slides/slide5.xml" Id="R604aba24303541d5" /><Relationship Type="http://schemas.openxmlformats.org/officeDocument/2006/relationships/slide" Target="/ppt/slides/slide6.xml" Id="Rf2ed0ed4df5d4017" /><Relationship Type="http://schemas.openxmlformats.org/officeDocument/2006/relationships/slide" Target="/ppt/slides/slide7.xml" Id="R8193abd53e664eb9" /><Relationship Type="http://schemas.openxmlformats.org/officeDocument/2006/relationships/slide" Target="/ppt/slides/slide8.xml" Id="Rbae125bf81a8477a" /><Relationship Type="http://schemas.openxmlformats.org/officeDocument/2006/relationships/slide" Target="/ppt/slides/slide9.xml" Id="R54c942b05e384e92" /><Relationship Type="http://schemas.openxmlformats.org/officeDocument/2006/relationships/slide" Target="/ppt/slides/slide10.xml" Id="R53d52c4351864fbc" /><Relationship Type="http://schemas.openxmlformats.org/officeDocument/2006/relationships/slide" Target="/ppt/slides/slide11.xml" Id="Rc751b99450a44c94" /><Relationship Type="http://schemas.openxmlformats.org/officeDocument/2006/relationships/slide" Target="/ppt/slides/slide12.xml" Id="R2da86a8d38f94cd8" /><Relationship Type="http://schemas.openxmlformats.org/officeDocument/2006/relationships/slide" Target="/ppt/slides/slide13.xml" Id="R60056bf5412c418b" /><Relationship Type="http://schemas.openxmlformats.org/officeDocument/2006/relationships/slide" Target="/ppt/slides/slide14.xml" Id="R0630c8c1be654297" /><Relationship Type="http://schemas.openxmlformats.org/officeDocument/2006/relationships/slide" Target="/ppt/slides/slide15.xml" Id="Re88bdece8a7742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1e8461447e42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3963e080774e3f" /><Relationship Type="http://schemas.openxmlformats.org/officeDocument/2006/relationships/notesMaster" Target="/ppt/notesMasters/notesMaster1.xml" Id="R1d7d10872e4347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74308954ac4369" /><Relationship Type="http://schemas.openxmlformats.org/officeDocument/2006/relationships/notesMaster" Target="/ppt/notesMasters/notesMaster1.xml" Id="Reeaa521331d24a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cdebf706454f22" /><Relationship Type="http://schemas.openxmlformats.org/officeDocument/2006/relationships/notesMaster" Target="/ppt/notesMasters/notesMaster1.xml" Id="R98e0fc1d7d644d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e8b18cb6564647" /><Relationship Type="http://schemas.openxmlformats.org/officeDocument/2006/relationships/notesMaster" Target="/ppt/notesMasters/notesMaster1.xml" Id="R5c146148b4b449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ea23c3cf15477f" /><Relationship Type="http://schemas.openxmlformats.org/officeDocument/2006/relationships/notesMaster" Target="/ppt/notesMasters/notesMaster1.xml" Id="R2c7cfee70a8d4e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15a07364934ff5" /><Relationship Type="http://schemas.openxmlformats.org/officeDocument/2006/relationships/notesMaster" Target="/ppt/notesMasters/notesMaster1.xml" Id="Ra2efedd192ae4e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1f7d0c25f644c1" /><Relationship Type="http://schemas.openxmlformats.org/officeDocument/2006/relationships/notesMaster" Target="/ppt/notesMasters/notesMaster1.xml" Id="Re35859f3520d40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f645eafd274244" /><Relationship Type="http://schemas.openxmlformats.org/officeDocument/2006/relationships/notesMaster" Target="/ppt/notesMasters/notesMaster1.xml" Id="R43d4b951e80846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f401b95cbb4f01" /><Relationship Type="http://schemas.openxmlformats.org/officeDocument/2006/relationships/notesMaster" Target="/ppt/notesMasters/notesMaster1.xml" Id="Rdba9aca33c444e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749e9729104bc1" /><Relationship Type="http://schemas.openxmlformats.org/officeDocument/2006/relationships/notesMaster" Target="/ppt/notesMasters/notesMaster1.xml" Id="R6c94edbf3e5144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b0d896c916420d" /><Relationship Type="http://schemas.openxmlformats.org/officeDocument/2006/relationships/notesMaster" Target="/ppt/notesMasters/notesMaster1.xml" Id="Rdccd2dba27c045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cbd412dc614a55" /><Relationship Type="http://schemas.openxmlformats.org/officeDocument/2006/relationships/notesMaster" Target="/ppt/notesMasters/notesMaster1.xml" Id="Rc077a1a4458d4b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99c5f22ffa439e" /><Relationship Type="http://schemas.openxmlformats.org/officeDocument/2006/relationships/notesMaster" Target="/ppt/notesMasters/notesMaster1.xml" Id="R5729004c52674f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a1254482d141ea" /><Relationship Type="http://schemas.openxmlformats.org/officeDocument/2006/relationships/notesMaster" Target="/ppt/notesMasters/notesMaster1.xml" Id="R53fb1354bd3249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d4b3a510da4674" /><Relationship Type="http://schemas.openxmlformats.org/officeDocument/2006/relationships/notesMaster" Target="/ppt/notesMasters/notesMaster1.xml" Id="Rdbf5061614f9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engineering review. Open the live product at https://f1-strategist-demo.ys85rp5g9ncdj.eu-north-1.cs.amazonlightsail.com/ . This deck reports executed evidence through Git commit 4b3946451986f09fdd11d880a2de757366947989.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docs/worklog.md, reports/agentic_local_verification.json and reports/aws_agentic_cloud_verification.json. Explain that every listed workstream has executable or cloud evidence. Avoid inventing a completion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reports/data_audit.json and docs/data_audit.md. The supplied CSV package is not redistributed because no license receipt accompanied it. Audit code verifies hashes, keys, missingness, yearly coverage and referential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from the public AWS application on 10 September 2026. Open the live root URL. Select 2024 and point out final recorded driver and constructor standings, then open Monaco from the race calendar.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backend/ai/chat.py, backend/ai/retrieval.py and backend/ai/sql_safety.py. The flow has a hard three-provider-call budget. Statistics can use route, plan and one repair. Deterministic refusals and name clarifications can use zero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backend/ai/retrieval.py and tests/test_retrieval.py. Use this example to explain that correction is database-derived and visible. Browser QA found and fixed an overlapping Jackie Lewis reference; the final trace contains only Lewis Hamilton.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 browser screenshot from deployment 9. The question contains Hamliton, the UI displays the correction, returns 105 wins and expands the safe trace. Point out Statistics, Lewis Hamilton, drivers/races/results, one executed SQL attempt, zero repairs and two model calls. The access field is blank in the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backend/ai/sql_safety.py, backend/ai/chat.py, tests/test_sql_safety.py, tests/test_agentic_chat.py and tests/test_postgres.py. A repair receives only a coarse category. No generated query needed repair in Run 09, Agentic Run 01 or the final cloud smoke, so do not imply that live repair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backend/ml/features.py, scripts/compare_models.py, scripts/evaluate_final.py, EXPERIMENTS.md and docs/evaluation.md. The snapshot lacks original pre-event publication timestamps, so describe the result as retrospective pre-race-feature evaluation rather than a verified historical live forecast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reports/final_test_metrics.json and docs/evaluation.md. Final test covers 68 races and 1,359 driver-race entries. Lower log loss and Brier are better. Higher AUC is better. Top-three hit rate declines slightly, so the project does not claim universal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reports/nl2sql_run_06.json through reports/nl2sql_run_09.json and reports/agentic_run_01.json. Runs 07 and 08 preserve failures that led to relationship-path fixes. Both suites were used during development and do not estimate unseen generalization. Provider and network variation affects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GitHub Actions screenshot for run 34456776706 at commit 4b394645. Open https://github.com/rayyanpasha89/F1/actions/runs/34456776706 . The workflow passed Python, frontend and infrastructure. The standard Python count excludes four opt-in PostgreSQL tests, which passed separately against the isolated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reports/aws_agentic_release.json, reports/aws_agentic_cloud_verification.json and docs/deployment.md. AWS account 148356747273, default profile, eu-north-1. Never touch Naaz. The database stayed private and the runtime role stayed read-only.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public screenshot from race 1128. Scroll to Podium probabilities. Charles Leclerc is 76.4% versus the 70.9% grid-only baseline. Select another driver to change the explanation. The contributions are calibrated log-odds, not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docs/final_demo_guide.md for the exact live path, questions and expected results. AI disclosure: OpenAI Codex assisted implementation, testing and review. Evidence comes from executed project code, AWS resources and live Bedrock calls. The implementing agent's review is not independent faculty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f81d8c494c41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2f2f80f9004e42" /><Relationship Type="http://schemas.openxmlformats.org/officeDocument/2006/relationships/slideLayout" Target="/ppt/slideLayouts/slideLayout1.xml" Id="R11383bf074ab49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383bf074ab49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7044288a8148b0" /><Relationship Type="http://schemas.openxmlformats.org/officeDocument/2006/relationships/notesSlide" Target="/ppt/notesSlides/notesSlide1.xml" Id="R154310ef1aac44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e9000ae66a45ed" /><Relationship Type="http://schemas.openxmlformats.org/officeDocument/2006/relationships/notesSlide" Target="/ppt/notesSlides/notesSlide2.xml" Id="Rda3b8c26abfa47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4323983eac4336" /><Relationship Type="http://schemas.openxmlformats.org/officeDocument/2006/relationships/notesSlide" Target="/ppt/notesSlides/notesSlide3.xml" Id="R4186b266d38e42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466e74cd1f4b33" /><Relationship Type="http://schemas.openxmlformats.org/officeDocument/2006/relationships/image" Target="/ppt/media/image.png" Id="R949c0632b6f0426d" /><Relationship Type="http://schemas.openxmlformats.org/officeDocument/2006/relationships/notesSlide" Target="/ppt/notesSlides/notesSlide4.xml" Id="Rc5c39c1047194b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d8ff3944ee4c8e" /><Relationship Type="http://schemas.openxmlformats.org/officeDocument/2006/relationships/notesSlide" Target="/ppt/notesSlides/notesSlide5.xml" Id="Ra740890ff7de4c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1d649160804166" /><Relationship Type="http://schemas.openxmlformats.org/officeDocument/2006/relationships/notesSlide" Target="/ppt/notesSlides/notesSlide6.xml" Id="R30d1202fe09c4f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873b95f9b1448a" /><Relationship Type="http://schemas.openxmlformats.org/officeDocument/2006/relationships/image" Target="/ppt/media/image2.png" Id="R838396da3a8049b0" /><Relationship Type="http://schemas.openxmlformats.org/officeDocument/2006/relationships/notesSlide" Target="/ppt/notesSlides/notesSlide7.xml" Id="R789fd22be54a41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89504c5c894573" /><Relationship Type="http://schemas.openxmlformats.org/officeDocument/2006/relationships/notesSlide" Target="/ppt/notesSlides/notesSlide8.xml" Id="Rc51e316f6b184a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ecfde2f26a4964" /><Relationship Type="http://schemas.openxmlformats.org/officeDocument/2006/relationships/notesSlide" Target="/ppt/notesSlides/notesSlide9.xml" Id="R66c4e8308b484b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1ed47d8ec746ed" /><Relationship Type="http://schemas.openxmlformats.org/officeDocument/2006/relationships/notesSlide" Target="/ppt/notesSlides/notesSlide10.xml" Id="R8427892239fd4b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f5355da9ef4fb4" /><Relationship Type="http://schemas.openxmlformats.org/officeDocument/2006/relationships/chart" Target="/ppt/slides/charts/chart1.xml" Id="R2c8d777ea03449d4" /><Relationship Type="http://schemas.openxmlformats.org/officeDocument/2006/relationships/notesSlide" Target="/ppt/notesSlides/notesSlide11.xml" Id="R667aae43dbd842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8c16d3ea4c4d83" /><Relationship Type="http://schemas.openxmlformats.org/officeDocument/2006/relationships/image" Target="/ppt/media/image3.png" Id="R3cfc795a3dcf4251" /><Relationship Type="http://schemas.openxmlformats.org/officeDocument/2006/relationships/notesSlide" Target="/ppt/notesSlides/notesSlide12.xml" Id="Rde8fec22495a4b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30a48574434ef6" /><Relationship Type="http://schemas.openxmlformats.org/officeDocument/2006/relationships/notesSlide" Target="/ppt/notesSlides/notesSlide13.xml" Id="R6c46052c76124d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6f22f1d3cc4382" /><Relationship Type="http://schemas.openxmlformats.org/officeDocument/2006/relationships/image" Target="/ppt/media/image4.png" Id="Rf3b0af652a214271" /><Relationship Type="http://schemas.openxmlformats.org/officeDocument/2006/relationships/notesSlide" Target="/ppt/notesSlides/notesSlide14.xml" Id="Rb2a5f0ac590e4a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b1dcde6a8446c6" /><Relationship Type="http://schemas.openxmlformats.org/officeDocument/2006/relationships/notesSlide" Target="/ppt/notesSlides/notesSlide15.xml" Id="Rbc6ed73357614f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Passing checks out of 40</c:v>
          </c:tx>
          <c:spPr>
            <a:solidFill xmlns:a="http://schemas.openxmlformats.org/drawingml/2006/main">
              <a:srgbClr val="245DD8"/>
            </a:solidFill>
          </c:spPr>
          <c:cat>
            <c:strRef>
              <c:f>'Chart Data'!$A$2:$A$5</c:f>
              <c:strCache>
                <c:ptCount val="4"/>
                <c:pt idx="0">
                  <c:v>Run 06</c:v>
                </c:pt>
                <c:pt idx="1">
                  <c:v>Run 07</c:v>
                </c:pt>
                <c:pt idx="2">
                  <c:v>Run 08</c:v>
                </c:pt>
                <c:pt idx="3">
                  <c:v>Run 09</c:v>
                </c:pt>
              </c:strCache>
            </c:strRef>
          </c:cat>
          <c:val>
            <c:numRef>
              <c:f>'Chart Data'!$B$2:$B$5</c:f>
              <c:numCache>
                <c:formatCode>0</c:formatCode>
                <c:ptCount val="4"/>
                <c:pt idx="0">
                  <c:v>40</c:v>
                </c:pt>
                <c:pt idx="1">
                  <c:v>39</c:v>
                </c:pt>
                <c:pt idx="2">
                  <c:v>39</c:v>
                </c:pt>
                <c:pt idx="3">
                  <c:v>40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D50"/>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4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5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03188D-E425-438B-BC90-D5F6D7D135CB}"/>
              </a:ext>
            </a:extLst>
          </p:cNvPr>
          <p:cNvSpPr>
            <a:spLocks xmlns:a="http://schemas.openxmlformats.org/drawingml/2006/main" noGrp="1"/>
          </p:cNvSpPr>
          <p:nvPr/>
        </p:nvSpPr>
        <p:spPr>
          <a:xfrm xmlns:a="http://schemas.openxmlformats.org/drawingml/2006/main">
            <a:off x="609600" y="140970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F1 RACE</a:t>
            </a:r>
          </a:p>
          <a:p xmlns:a="http://schemas.openxmlformats.org/drawingml/2006/main">
            <a:pPr>
              <a:defRPr sz="6450" b="1">
                <a:solidFill>
                  <a:srgbClr val="FFFFFF"/>
                </a:solidFill>
                <a:latin typeface="Arial"/>
                <a:ea typeface="Arial"/>
                <a:cs typeface="Arial"/>
              </a:defRPr>
            </a:pPr>
            <a:r>
              <a:rPr sz="6450" b="1">
                <a:solidFill>
                  <a:srgbClr val="FFFFFF"/>
                </a:solidFill>
                <a:latin typeface="Arial"/>
                <a:ea typeface="Arial"/>
                <a:cs typeface="Arial"/>
              </a:rPr>
              <a:t>STRATEGIST</a:t>
            </a:r>
          </a:p>
        </p:txBody>
      </p:sp>
      <p:sp>
        <p:nvSpPr>
          <p:cNvPr id="2" name="">
            <a:extLst xmlns:a="http://schemas.openxmlformats.org/drawingml/2006/main">
              <a:ext uri="{FF2B5EF4-FFF2-40B4-BE49-F238E27FC236}">
                <a16:creationId xmlns:a16="http://schemas.microsoft.com/office/drawing/2014/main" id="{54087006-C075-4582-9476-1B1E42AA76FA}"/>
              </a:ext>
            </a:extLst>
          </p:cNvPr>
          <p:cNvSpPr>
            <a:spLocks xmlns:a="http://schemas.openxmlformats.org/drawingml/2006/main" noGrp="1"/>
          </p:cNvSpPr>
          <p:nvPr/>
        </p:nvSpPr>
        <p:spPr>
          <a:xfrm xmlns:a="http://schemas.openxmlformats.org/drawingml/2006/main">
            <a:off x="647700" y="39814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FC8FA"/>
                </a:solidFill>
                <a:latin typeface="Arial"/>
                <a:ea typeface="Arial"/>
                <a:cs typeface="Arial"/>
              </a:defRPr>
            </a:pPr>
            <a:r>
              <a:rPr sz="2550" b="0">
                <a:solidFill>
                  <a:srgbClr val="8FC8FA"/>
                </a:solidFill>
                <a:latin typeface="Arial"/>
                <a:ea typeface="Arial"/>
                <a:cs typeface="Arial"/>
              </a:rPr>
              <a:t>Final engineering review</a:t>
            </a:r>
          </a:p>
        </p:txBody>
      </p:sp>
      <p:sp>
        <p:nvSpPr>
          <p:cNvPr id="3" name="">
            <a:extLst xmlns:a="http://schemas.openxmlformats.org/drawingml/2006/main">
              <a:ext uri="{FF2B5EF4-FFF2-40B4-BE49-F238E27FC236}">
                <a16:creationId xmlns:a16="http://schemas.microsoft.com/office/drawing/2014/main" id="{EBA90630-3645-40E7-BDF1-ABA94E52237B}"/>
              </a:ext>
            </a:extLst>
          </p:cNvPr>
          <p:cNvSpPr>
            <a:spLocks xmlns:a="http://schemas.openxmlformats.org/drawingml/2006/main" noGrp="1"/>
          </p:cNvSpPr>
          <p:nvPr/>
        </p:nvSpPr>
        <p:spPr>
          <a:xfrm xmlns:a="http://schemas.openxmlformats.org/drawingml/2006/main">
            <a:off x="6477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Historical analytics, explainable predictions and grounded agentic chat</a:t>
            </a:r>
          </a:p>
        </p:txBody>
      </p:sp>
      <p:sp>
        <p:nvSpPr>
          <p:cNvPr id="4" name="">
            <a:extLst xmlns:a="http://schemas.openxmlformats.org/drawingml/2006/main">
              <a:ext uri="{FF2B5EF4-FFF2-40B4-BE49-F238E27FC236}">
                <a16:creationId xmlns:a16="http://schemas.microsoft.com/office/drawing/2014/main" id="{2A51DD02-C91A-45B3-B3D6-9DCE829BD29F}"/>
              </a:ext>
            </a:extLst>
          </p:cNvPr>
          <p:cNvSpPr>
            <a:spLocks xmlns:a="http://schemas.openxmlformats.org/drawingml/2006/main" noGrp="1"/>
          </p:cNvSpPr>
          <p:nvPr/>
        </p:nvSpPr>
        <p:spPr>
          <a:xfrm xmlns:a="http://schemas.openxmlformats.org/drawingml/2006/main">
            <a:off x="647700" y="56388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Rayyan  /  10 September 2026</a:t>
            </a:r>
          </a:p>
        </p:txBody>
      </p:sp>
    </p:spTree>
    <p:extLst>
      <p:ext uri="{BB962C8B-B14F-4D97-AF65-F5344CB8AC3E}">
        <p14:creationId xmlns:p14="http://schemas.microsoft.com/office/powerpoint/2010/main" val="513045133"/>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3352CF-7868-4351-A48A-7DE449F68A30}"/>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End-to-end product status</a:t>
            </a:r>
          </a:p>
        </p:txBody>
      </p:sp>
      <p:sp>
        <p:nvSpPr>
          <p:cNvPr id="2" name="">
            <a:extLst xmlns:a="http://schemas.openxmlformats.org/drawingml/2006/main">
              <a:ext uri="{FF2B5EF4-FFF2-40B4-BE49-F238E27FC236}">
                <a16:creationId xmlns:a16="http://schemas.microsoft.com/office/drawing/2014/main" id="{945B9442-7675-4A53-8FB6-C831FADEFBC4}"/>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graphicFrame>
        <p:nvGraphicFramePr>
          <p:cNvPr id="7" name=""/>
          <p:cNvGraphicFramePr/>
          <p:nvPr/>
        </p:nvGraphicFramePr>
        <p:xfrm>
          <a:off xmlns:a="http://schemas.openxmlformats.org/drawingml/2006/main" x="609600" y="1581150"/>
          <a:ext xmlns:a="http://schemas.openxmlformats.org/drawingml/2006/main" cx="10972800" cy="3905250"/>
        </p:xfrm>
        <a:graphic xmlns:a="http://schemas.openxmlformats.org/drawingml/2006/main">
          <a:graphicData uri="http://schemas.openxmlformats.org/drawingml/2006/table">
            <a:tbl>
              <a:tblPr/>
              <a:tblGrid>
                <a:gridCol w="3143250"/>
                <a:gridCol w="2381250"/>
                <a:gridCol w="5448300"/>
              </a:tblGrid>
              <a:tr h="650875">
                <a:tc>
                  <a:txBody>
                    <a:bodyPr/>
                    <a:lstStyle/>
                    <a:p>
                      <a:r>
                        <a:rPr sz="1650" b="1">
                          <a:solidFill>
                            <a:srgbClr val="FFFFFF"/>
                          </a:solidFill>
                          <a:latin typeface="Arial"/>
                          <a:ea typeface="Arial"/>
                          <a:cs typeface="Arial"/>
                        </a:rPr>
                        <a:t>Workstream</a:t>
                      </a:r>
                    </a:p>
                  </a:txBody>
                  <a:tcPr marL="91440" marR="91440" marT="45720" marB="45720">
                    <a:solidFill>
                      <a:srgbClr val="142D50"/>
                    </a:solidFill>
                  </a:tcPr>
                </a:tc>
                <a:tc>
                  <a:txBody>
                    <a:bodyPr/>
                    <a:lstStyle/>
                    <a:p>
                      <a:r>
                        <a:rPr sz="1650" b="1">
                          <a:solidFill>
                            <a:srgbClr val="FFFFFF"/>
                          </a:solidFill>
                          <a:latin typeface="Arial"/>
                          <a:ea typeface="Arial"/>
                          <a:cs typeface="Arial"/>
                        </a:rPr>
                        <a:t>State</a:t>
                      </a:r>
                    </a:p>
                  </a:txBody>
                  <a:tcPr marL="91440" marR="91440" marT="45720" marB="45720">
                    <a:solidFill>
                      <a:srgbClr val="142D50"/>
                    </a:solidFill>
                  </a:tcPr>
                </a:tc>
                <a:tc>
                  <a:txBody>
                    <a:bodyPr/>
                    <a:lstStyle/>
                    <a:p>
                      <a:r>
                        <a:rPr sz="1650" b="1">
                          <a:solidFill>
                            <a:srgbClr val="FFFFFF"/>
                          </a:solidFill>
                          <a:latin typeface="Arial"/>
                          <a:ea typeface="Arial"/>
                          <a:cs typeface="Arial"/>
                        </a:rPr>
                        <a:t>Evidence</a:t>
                      </a:r>
                    </a:p>
                  </a:txBody>
                  <a:tcPr marL="91440" marR="91440" marT="45720" marB="45720">
                    <a:solidFill>
                      <a:srgbClr val="142D50"/>
                    </a:solidFill>
                  </a:tcPr>
                </a:tc>
              </a:tr>
              <a:tr h="650875">
                <a:tc>
                  <a:txBody>
                    <a:bodyPr/>
                    <a:lstStyle/>
                    <a:p>
                      <a:r>
                        <a:rPr sz="1575" b="0">
                          <a:solidFill>
                            <a:srgbClr val="142D50"/>
                          </a:solidFill>
                          <a:latin typeface="Arial"/>
                          <a:ea typeface="Arial"/>
                          <a:cs typeface="Arial"/>
                        </a:rPr>
                        <a:t>Data foundation</a:t>
                      </a:r>
                    </a:p>
                  </a:txBody>
                  <a:tcPr marL="91440" marR="91440" marT="45720" marB="45720">
                    <a:solidFill>
                      <a:srgbClr val="FFFFFF"/>
                    </a:solidFill>
                  </a:tcPr>
                </a:tc>
                <a:tc>
                  <a:txBody>
                    <a:bodyPr/>
                    <a:lstStyle/>
                    <a:p>
                      <a:r>
                        <a:rPr sz="1575" b="0">
                          <a:solidFill>
                            <a:srgbClr val="142D50"/>
                          </a:solidFill>
                          <a:latin typeface="Arial"/>
                          <a:ea typeface="Arial"/>
                          <a:cs typeface="Arial"/>
                        </a:rPr>
                        <a:t>Verified</a:t>
                      </a:r>
                    </a:p>
                  </a:txBody>
                  <a:tcPr marL="91440" marR="91440" marT="45720" marB="45720">
                    <a:solidFill>
                      <a:srgbClr val="FFFFFF"/>
                    </a:solidFill>
                  </a:tcPr>
                </a:tc>
                <a:tc>
                  <a:txBody>
                    <a:bodyPr/>
                    <a:lstStyle/>
                    <a:p>
                      <a:r>
                        <a:rPr sz="1575" b="0">
                          <a:solidFill>
                            <a:srgbClr val="142D50"/>
                          </a:solidFill>
                          <a:latin typeface="Arial"/>
                          <a:ea typeface="Arial"/>
                          <a:cs typeface="Arial"/>
                        </a:rPr>
                        <a:t>701,433 rows, 14 tables, SQLite and PostgreSQL</a:t>
                      </a:r>
                    </a:p>
                  </a:txBody>
                  <a:tcPr marL="91440" marR="91440" marT="45720" marB="45720">
                    <a:solidFill>
                      <a:srgbClr val="FFFFFF"/>
                    </a:solidFill>
                  </a:tcPr>
                </a:tc>
              </a:tr>
              <a:tr h="650875">
                <a:tc>
                  <a:txBody>
                    <a:bodyPr/>
                    <a:lstStyle/>
                    <a:p>
                      <a:r>
                        <a:rPr sz="1575" b="0">
                          <a:solidFill>
                            <a:srgbClr val="142D50"/>
                          </a:solidFill>
                          <a:latin typeface="Arial"/>
                          <a:ea typeface="Arial"/>
                          <a:cs typeface="Arial"/>
                        </a:rPr>
                        <a:t>Web product</a:t>
                      </a:r>
                    </a:p>
                  </a:txBody>
                  <a:tcPr marL="91440" marR="91440" marT="45720" marB="45720">
                    <a:solidFill>
                      <a:srgbClr val="E8F0FA"/>
                    </a:solidFill>
                  </a:tcPr>
                </a:tc>
                <a:tc>
                  <a:txBody>
                    <a:bodyPr/>
                    <a:lstStyle/>
                    <a:p>
                      <a:r>
                        <a:rPr sz="1575" b="0">
                          <a:solidFill>
                            <a:srgbClr val="142D50"/>
                          </a:solidFill>
                          <a:latin typeface="Arial"/>
                          <a:ea typeface="Arial"/>
                          <a:cs typeface="Arial"/>
                        </a:rPr>
                        <a:t>Live</a:t>
                      </a:r>
                    </a:p>
                  </a:txBody>
                  <a:tcPr marL="91440" marR="91440" marT="45720" marB="45720">
                    <a:solidFill>
                      <a:srgbClr val="E8F0FA"/>
                    </a:solidFill>
                  </a:tcPr>
                </a:tc>
                <a:tc>
                  <a:txBody>
                    <a:bodyPr/>
                    <a:lstStyle/>
                    <a:p>
                      <a:r>
                        <a:rPr sz="1575" b="0">
                          <a:solidFill>
                            <a:srgbClr val="142D50"/>
                          </a:solidFill>
                          <a:latin typeface="Arial"/>
                          <a:ea typeface="Arial"/>
                          <a:cs typeface="Arial"/>
                        </a:rPr>
                        <a:t>Responsive React views backed by FastAPI</a:t>
                      </a:r>
                    </a:p>
                  </a:txBody>
                  <a:tcPr marL="91440" marR="91440" marT="45720" marB="45720">
                    <a:solidFill>
                      <a:srgbClr val="E8F0FA"/>
                    </a:solidFill>
                  </a:tcPr>
                </a:tc>
              </a:tr>
              <a:tr h="650875">
                <a:tc>
                  <a:txBody>
                    <a:bodyPr/>
                    <a:lstStyle/>
                    <a:p>
                      <a:r>
                        <a:rPr sz="1575" b="0">
                          <a:solidFill>
                            <a:srgbClr val="142D50"/>
                          </a:solidFill>
                          <a:latin typeface="Arial"/>
                          <a:ea typeface="Arial"/>
                          <a:cs typeface="Arial"/>
                        </a:rPr>
                        <a:t>Prediction model</a:t>
                      </a:r>
                    </a:p>
                  </a:txBody>
                  <a:tcPr marL="91440" marR="91440" marT="45720" marB="45720">
                    <a:solidFill>
                      <a:srgbClr val="FFFFFF"/>
                    </a:solidFill>
                  </a:tcPr>
                </a:tc>
                <a:tc>
                  <a:txBody>
                    <a:bodyPr/>
                    <a:lstStyle/>
                    <a:p>
                      <a:r>
                        <a:rPr sz="1575" b="0">
                          <a:solidFill>
                            <a:srgbClr val="142D50"/>
                          </a:solidFill>
                          <a:latin typeface="Arial"/>
                          <a:ea typeface="Arial"/>
                          <a:cs typeface="Arial"/>
                        </a:rPr>
                        <a:t>Frozen and measured</a:t>
                      </a:r>
                    </a:p>
                  </a:txBody>
                  <a:tcPr marL="91440" marR="91440" marT="45720" marB="45720">
                    <a:solidFill>
                      <a:srgbClr val="FFFFFF"/>
                    </a:solidFill>
                  </a:tcPr>
                </a:tc>
                <a:tc>
                  <a:txBody>
                    <a:bodyPr/>
                    <a:lstStyle/>
                    <a:p>
                      <a:r>
                        <a:rPr sz="1575" b="0">
                          <a:solidFill>
                            <a:srgbClr val="142D50"/>
                          </a:solidFill>
                          <a:latin typeface="Arial"/>
                          <a:ea typeface="Arial"/>
                          <a:cs typeface="Arial"/>
                        </a:rPr>
                        <a:t>Chronological test, calibrated probabilities, SHAP</a:t>
                      </a:r>
                    </a:p>
                  </a:txBody>
                  <a:tcPr marL="91440" marR="91440" marT="45720" marB="45720">
                    <a:solidFill>
                      <a:srgbClr val="FFFFFF"/>
                    </a:solidFill>
                  </a:tcPr>
                </a:tc>
              </a:tr>
              <a:tr h="650875">
                <a:tc>
                  <a:txBody>
                    <a:bodyPr/>
                    <a:lstStyle/>
                    <a:p>
                      <a:r>
                        <a:rPr sz="1575" b="0">
                          <a:solidFill>
                            <a:srgbClr val="142D50"/>
                          </a:solidFill>
                          <a:latin typeface="Arial"/>
                          <a:ea typeface="Arial"/>
                          <a:cs typeface="Arial"/>
                        </a:rPr>
                        <a:t>Agentic chat</a:t>
                      </a:r>
                    </a:p>
                  </a:txBody>
                  <a:tcPr marL="91440" marR="91440" marT="45720" marB="45720">
                    <a:solidFill>
                      <a:srgbClr val="E8F0FA"/>
                    </a:solidFill>
                  </a:tcPr>
                </a:tc>
                <a:tc>
                  <a:txBody>
                    <a:bodyPr/>
                    <a:lstStyle/>
                    <a:p>
                      <a:r>
                        <a:rPr sz="1575" b="0">
                          <a:solidFill>
                            <a:srgbClr val="142D50"/>
                          </a:solidFill>
                          <a:latin typeface="Arial"/>
                          <a:ea typeface="Arial"/>
                          <a:cs typeface="Arial"/>
                        </a:rPr>
                        <a:t>Live</a:t>
                      </a:r>
                    </a:p>
                  </a:txBody>
                  <a:tcPr marL="91440" marR="91440" marT="45720" marB="45720">
                    <a:solidFill>
                      <a:srgbClr val="E8F0FA"/>
                    </a:solidFill>
                  </a:tcPr>
                </a:tc>
                <a:tc>
                  <a:txBody>
                    <a:bodyPr/>
                    <a:lstStyle/>
                    <a:p>
                      <a:r>
                        <a:rPr sz="1575" b="0">
                          <a:solidFill>
                            <a:srgbClr val="142D50"/>
                          </a:solidFill>
                          <a:latin typeface="Arial"/>
                          <a:ea typeface="Arial"/>
                          <a:cs typeface="Arial"/>
                        </a:rPr>
                        <a:t>Augmentation, reranking, bounded repair and audit trace</a:t>
                      </a:r>
                    </a:p>
                  </a:txBody>
                  <a:tcPr marL="91440" marR="91440" marT="45720" marB="45720">
                    <a:solidFill>
                      <a:srgbClr val="E8F0FA"/>
                    </a:solidFill>
                  </a:tcPr>
                </a:tc>
              </a:tr>
              <a:tr h="650875">
                <a:tc>
                  <a:txBody>
                    <a:bodyPr/>
                    <a:lstStyle/>
                    <a:p>
                      <a:r>
                        <a:rPr sz="1575" b="0">
                          <a:solidFill>
                            <a:srgbClr val="142D50"/>
                          </a:solidFill>
                          <a:latin typeface="Arial"/>
                          <a:ea typeface="Arial"/>
                          <a:cs typeface="Arial"/>
                        </a:rPr>
                        <a:t>Release</a:t>
                      </a:r>
                    </a:p>
                  </a:txBody>
                  <a:tcPr marL="91440" marR="91440" marT="45720" marB="45720">
                    <a:solidFill>
                      <a:srgbClr val="FFFFFF"/>
                    </a:solidFill>
                  </a:tcPr>
                </a:tc>
                <a:tc>
                  <a:txBody>
                    <a:bodyPr/>
                    <a:lstStyle/>
                    <a:p>
                      <a:r>
                        <a:rPr sz="1575" b="0">
                          <a:solidFill>
                            <a:srgbClr val="142D50"/>
                          </a:solidFill>
                          <a:latin typeface="Arial"/>
                          <a:ea typeface="Arial"/>
                          <a:cs typeface="Arial"/>
                        </a:rPr>
                        <a:t>Verified</a:t>
                      </a:r>
                    </a:p>
                  </a:txBody>
                  <a:tcPr marL="91440" marR="91440" marT="45720" marB="45720">
                    <a:solidFill>
                      <a:srgbClr val="FFFFFF"/>
                    </a:solidFill>
                  </a:tcPr>
                </a:tc>
                <a:tc>
                  <a:txBody>
                    <a:bodyPr/>
                    <a:lstStyle/>
                    <a:p>
                      <a:r>
                        <a:rPr sz="1575" b="0">
                          <a:solidFill>
                            <a:srgbClr val="142D50"/>
                          </a:solidFill>
                          <a:latin typeface="Arial"/>
                          <a:ea typeface="Arial"/>
                          <a:cs typeface="Arial"/>
                        </a:rPr>
                        <a:t>GitHub CI, CodeBuild, ECR and Lightsail deployment 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E061745-3C97-40C6-B40C-1A37E9BC67E4}"/>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Final artifacts include machine-readable reports, screenshots, this deck and a demo guide.</a:t>
            </a:r>
          </a:p>
        </p:txBody>
      </p:sp>
    </p:spTree>
    <p:extLst>
      <p:ext uri="{BB962C8B-B14F-4D97-AF65-F5344CB8AC3E}">
        <p14:creationId xmlns:p14="http://schemas.microsoft.com/office/powerpoint/2010/main" val="788725099"/>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27B757-761F-4EE9-A810-550AEC906402}"/>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Historical data foundation</a:t>
            </a:r>
          </a:p>
        </p:txBody>
      </p:sp>
      <p:sp>
        <p:nvSpPr>
          <p:cNvPr id="2" name="">
            <a:extLst xmlns:a="http://schemas.openxmlformats.org/drawingml/2006/main">
              <a:ext uri="{FF2B5EF4-FFF2-40B4-BE49-F238E27FC236}">
                <a16:creationId xmlns:a16="http://schemas.microsoft.com/office/drawing/2014/main" id="{3B871865-6325-4815-A90C-059A544712BC}"/>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76928B91-EC99-48F6-9F0F-CDD920BE13E9}"/>
              </a:ext>
            </a:extLst>
          </p:cNvPr>
          <p:cNvSpPr>
            <a:spLocks xmlns:a="http://schemas.openxmlformats.org/drawingml/2006/main" noGrp="1"/>
          </p:cNvSpPr>
          <p:nvPr/>
        </p:nvSpPr>
        <p:spPr>
          <a:xfrm xmlns:a="http://schemas.openxmlformats.org/drawingml/2006/main">
            <a:off x="609600" y="15049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701,433</a:t>
            </a:r>
          </a:p>
        </p:txBody>
      </p:sp>
      <p:sp>
        <p:nvSpPr>
          <p:cNvPr id="4" name="">
            <a:extLst xmlns:a="http://schemas.openxmlformats.org/drawingml/2006/main">
              <a:ext uri="{FF2B5EF4-FFF2-40B4-BE49-F238E27FC236}">
                <a16:creationId xmlns:a16="http://schemas.microsoft.com/office/drawing/2014/main" id="{AE38AB32-6E35-4650-BE07-328A890956F5}"/>
              </a:ext>
            </a:extLst>
          </p:cNvPr>
          <p:cNvSpPr>
            <a:spLocks xmlns:a="http://schemas.openxmlformats.org/drawingml/2006/main" noGrp="1"/>
          </p:cNvSpPr>
          <p:nvPr/>
        </p:nvSpPr>
        <p:spPr>
          <a:xfrm xmlns:a="http://schemas.openxmlformats.org/drawingml/2006/main">
            <a:off x="609600" y="224790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audited source rows</a:t>
            </a:r>
          </a:p>
        </p:txBody>
      </p:sp>
      <p:sp>
        <p:nvSpPr>
          <p:cNvPr id="5" name="">
            <a:extLst xmlns:a="http://schemas.openxmlformats.org/drawingml/2006/main">
              <a:ext uri="{FF2B5EF4-FFF2-40B4-BE49-F238E27FC236}">
                <a16:creationId xmlns:a16="http://schemas.microsoft.com/office/drawing/2014/main" id="{3FFE5081-B029-414B-9D3E-DBEE71862984}"/>
              </a:ext>
            </a:extLst>
          </p:cNvPr>
          <p:cNvSpPr>
            <a:spLocks xmlns:a="http://schemas.openxmlformats.org/drawingml/2006/main" noGrp="1"/>
          </p:cNvSpPr>
          <p:nvPr/>
        </p:nvSpPr>
        <p:spPr>
          <a:xfrm xmlns:a="http://schemas.openxmlformats.org/drawingml/2006/main">
            <a:off x="4095750" y="1504950"/>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CF6A2163-A795-4A7D-B971-0ED465258869}"/>
              </a:ext>
            </a:extLst>
          </p:cNvPr>
          <p:cNvSpPr>
            <a:spLocks xmlns:a="http://schemas.openxmlformats.org/drawingml/2006/main" noGrp="1"/>
          </p:cNvSpPr>
          <p:nvPr/>
        </p:nvSpPr>
        <p:spPr>
          <a:xfrm xmlns:a="http://schemas.openxmlformats.org/drawingml/2006/main">
            <a:off x="4095750" y="2247900"/>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relational tables</a:t>
            </a:r>
          </a:p>
        </p:txBody>
      </p:sp>
      <p:sp>
        <p:nvSpPr>
          <p:cNvPr id="7" name="">
            <a:extLst xmlns:a="http://schemas.openxmlformats.org/drawingml/2006/main">
              <a:ext uri="{FF2B5EF4-FFF2-40B4-BE49-F238E27FC236}">
                <a16:creationId xmlns:a16="http://schemas.microsoft.com/office/drawing/2014/main" id="{CAE4B352-5C15-4F98-8852-C1525C4EA31A}"/>
              </a:ext>
            </a:extLst>
          </p:cNvPr>
          <p:cNvSpPr>
            <a:spLocks xmlns:a="http://schemas.openxmlformats.org/drawingml/2006/main" noGrp="1"/>
          </p:cNvSpPr>
          <p:nvPr/>
        </p:nvSpPr>
        <p:spPr>
          <a:xfrm xmlns:a="http://schemas.openxmlformats.org/drawingml/2006/main">
            <a:off x="7239000" y="15049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4E71BEE8-1643-4480-A972-BDD8EFC952F7}"/>
              </a:ext>
            </a:extLst>
          </p:cNvPr>
          <p:cNvSpPr>
            <a:spLocks xmlns:a="http://schemas.openxmlformats.org/drawingml/2006/main" noGrp="1"/>
          </p:cNvSpPr>
          <p:nvPr/>
        </p:nvSpPr>
        <p:spPr>
          <a:xfrm xmlns:a="http://schemas.openxmlformats.org/drawingml/2006/main">
            <a:off x="7239000" y="224790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seasons, 1950–2024</a:t>
            </a:r>
          </a:p>
        </p:txBody>
      </p:sp>
      <p:graphicFrame>
        <p:nvGraphicFramePr>
          <p:cNvPr id="18" name=""/>
          <p:cNvGraphicFramePr/>
          <p:nvPr/>
        </p:nvGraphicFramePr>
        <p:xfrm>
          <a:off xmlns:a="http://schemas.openxmlformats.org/drawingml/2006/main" x="609600" y="3238500"/>
          <a:ext xmlns:a="http://schemas.openxmlformats.org/drawingml/2006/main" cx="10972800" cy="2857500"/>
        </p:xfrm>
        <a:graphic xmlns:a="http://schemas.openxmlformats.org/drawingml/2006/main">
          <a:graphicData uri="http://schemas.openxmlformats.org/drawingml/2006/table">
            <a:tbl>
              <a:tblPr/>
              <a:tblGrid>
                <a:gridCol w="3524250"/>
                <a:gridCol w="7448550"/>
              </a:tblGrid>
              <a:tr h="571500">
                <a:tc>
                  <a:txBody>
                    <a:bodyPr/>
                    <a:lstStyle/>
                    <a:p>
                      <a:r>
                        <a:rPr sz="1650" b="1">
                          <a:solidFill>
                            <a:srgbClr val="FFFFFF"/>
                          </a:solidFill>
                          <a:latin typeface="Arial"/>
                          <a:ea typeface="Arial"/>
                          <a:cs typeface="Arial"/>
                        </a:rPr>
                        <a:t>Coverage</a:t>
                      </a:r>
                    </a:p>
                  </a:txBody>
                  <a:tcPr marL="91440" marR="91440" marT="45720" marB="45720">
                    <a:solidFill>
                      <a:srgbClr val="142D50"/>
                    </a:solidFill>
                  </a:tcPr>
                </a:tc>
                <a:tc>
                  <a:txBody>
                    <a:bodyPr/>
                    <a:lstStyle/>
                    <a:p>
                      <a:r>
                        <a:rPr sz="1650" b="1">
                          <a:solidFill>
                            <a:srgbClr val="FFFFFF"/>
                          </a:solidFill>
                          <a:latin typeface="Arial"/>
                          <a:ea typeface="Arial"/>
                          <a:cs typeface="Arial"/>
                        </a:rPr>
                        <a:t>Verified result</a:t>
                      </a:r>
                    </a:p>
                  </a:txBody>
                  <a:tcPr marL="91440" marR="91440" marT="45720" marB="45720">
                    <a:solidFill>
                      <a:srgbClr val="142D50"/>
                    </a:solidFill>
                  </a:tcPr>
                </a:tc>
              </a:tr>
              <a:tr h="571500">
                <a:tc>
                  <a:txBody>
                    <a:bodyPr/>
                    <a:lstStyle/>
                    <a:p>
                      <a:r>
                        <a:rPr sz="1575" b="0">
                          <a:solidFill>
                            <a:srgbClr val="142D50"/>
                          </a:solidFill>
                          <a:latin typeface="Arial"/>
                          <a:ea typeface="Arial"/>
                          <a:cs typeface="Arial"/>
                        </a:rPr>
                        <a:t>Core entities</a:t>
                      </a:r>
                    </a:p>
                  </a:txBody>
                  <a:tcPr marL="91440" marR="91440" marT="45720" marB="45720">
                    <a:solidFill>
                      <a:srgbClr val="FFFFFF"/>
                    </a:solidFill>
                  </a:tcPr>
                </a:tc>
                <a:tc>
                  <a:txBody>
                    <a:bodyPr/>
                    <a:lstStyle/>
                    <a:p>
                      <a:r>
                        <a:rPr sz="1575" b="0">
                          <a:solidFill>
                            <a:srgbClr val="142D50"/>
                          </a:solidFill>
                          <a:latin typeface="Arial"/>
                          <a:ea typeface="Arial"/>
                          <a:cs typeface="Arial"/>
                        </a:rPr>
                        <a:t>1,125 races, 861 drivers, 212 constructors</a:t>
                      </a:r>
                    </a:p>
                  </a:txBody>
                  <a:tcPr marL="91440" marR="91440" marT="45720" marB="45720">
                    <a:solidFill>
                      <a:srgbClr val="FFFFFF"/>
                    </a:solidFill>
                  </a:tcPr>
                </a:tc>
              </a:tr>
              <a:tr h="571500">
                <a:tc>
                  <a:txBody>
                    <a:bodyPr/>
                    <a:lstStyle/>
                    <a:p>
                      <a:r>
                        <a:rPr sz="1575" b="0">
                          <a:solidFill>
                            <a:srgbClr val="142D50"/>
                          </a:solidFill>
                          <a:latin typeface="Arial"/>
                          <a:ea typeface="Arial"/>
                          <a:cs typeface="Arial"/>
                        </a:rPr>
                        <a:t>Timing detail</a:t>
                      </a:r>
                    </a:p>
                  </a:txBody>
                  <a:tcPr marL="91440" marR="91440" marT="45720" marB="45720">
                    <a:solidFill>
                      <a:srgbClr val="E8F0FA"/>
                    </a:solidFill>
                  </a:tcPr>
                </a:tc>
                <a:tc>
                  <a:txBody>
                    <a:bodyPr/>
                    <a:lstStyle/>
                    <a:p>
                      <a:r>
                        <a:rPr sz="1575" b="0">
                          <a:solidFill>
                            <a:srgbClr val="142D50"/>
                          </a:solidFill>
                          <a:latin typeface="Arial"/>
                          <a:ea typeface="Arial"/>
                          <a:cs typeface="Arial"/>
                        </a:rPr>
                        <a:t>Lap timing begins in 1996; pit stops begin in 2011</a:t>
                      </a:r>
                    </a:p>
                  </a:txBody>
                  <a:tcPr marL="91440" marR="91440" marT="45720" marB="45720">
                    <a:solidFill>
                      <a:srgbClr val="E8F0FA"/>
                    </a:solidFill>
                  </a:tcPr>
                </a:tc>
              </a:tr>
              <a:tr h="571500">
                <a:tc>
                  <a:txBody>
                    <a:bodyPr/>
                    <a:lstStyle/>
                    <a:p>
                      <a:r>
                        <a:rPr sz="1575" b="0">
                          <a:solidFill>
                            <a:srgbClr val="142D50"/>
                          </a:solidFill>
                          <a:latin typeface="Arial"/>
                          <a:ea typeface="Arial"/>
                          <a:cs typeface="Arial"/>
                        </a:rPr>
                        <a:t>Sprint data</a:t>
                      </a:r>
                    </a:p>
                  </a:txBody>
                  <a:tcPr marL="91440" marR="91440" marT="45720" marB="45720">
                    <a:solidFill>
                      <a:srgbClr val="FFFFFF"/>
                    </a:solidFill>
                  </a:tcPr>
                </a:tc>
                <a:tc>
                  <a:txBody>
                    <a:bodyPr/>
                    <a:lstStyle/>
                    <a:p>
                      <a:r>
                        <a:rPr sz="1575" b="0">
                          <a:solidFill>
                            <a:srgbClr val="142D50"/>
                          </a:solidFill>
                          <a:latin typeface="Arial"/>
                          <a:ea typeface="Arial"/>
                          <a:cs typeface="Arial"/>
                        </a:rPr>
                        <a:t>Recorded sprint results begin in 2021</a:t>
                      </a:r>
                    </a:p>
                  </a:txBody>
                  <a:tcPr marL="91440" marR="91440" marT="45720" marB="45720">
                    <a:solidFill>
                      <a:srgbClr val="FFFFFF"/>
                    </a:solidFill>
                  </a:tcPr>
                </a:tc>
              </a:tr>
              <a:tr h="571500">
                <a:tc>
                  <a:txBody>
                    <a:bodyPr/>
                    <a:lstStyle/>
                    <a:p>
                      <a:r>
                        <a:rPr sz="1575" b="0">
                          <a:solidFill>
                            <a:srgbClr val="142D50"/>
                          </a:solidFill>
                          <a:latin typeface="Arial"/>
                          <a:ea typeface="Arial"/>
                          <a:cs typeface="Arial"/>
                        </a:rPr>
                        <a:t>Excluded inputs</a:t>
                      </a:r>
                    </a:p>
                  </a:txBody>
                  <a:tcPr marL="91440" marR="91440" marT="45720" marB="45720">
                    <a:solidFill>
                      <a:srgbClr val="E8F0FA"/>
                    </a:solidFill>
                  </a:tcPr>
                </a:tc>
                <a:tc>
                  <a:txBody>
                    <a:bodyPr/>
                    <a:lstStyle/>
                    <a:p>
                      <a:r>
                        <a:rPr sz="1575" b="0">
                          <a:solidFill>
                            <a:srgbClr val="142D50"/>
                          </a:solidFill>
                          <a:latin typeface="Arial"/>
                          <a:ea typeface="Arial"/>
                          <a:cs typeface="Arial"/>
                        </a:rPr>
                        <a:t>No dependable weather, tyres, fuel or telemetry</a:t>
                      </a:r>
                    </a:p>
                  </a:txBody>
                  <a:tcPr marL="91440" marR="91440" marT="45720" marB="45720">
                    <a:solidFill>
                      <a:srgbClr val="E8F0FA"/>
                    </a:solidFill>
                  </a:tcPr>
                </a:tc>
              </a:tr>
            </a:tbl>
          </a:graphicData>
        </a:graphic>
      </p:graphicFrame>
    </p:spTree>
    <p:extLst>
      <p:ext uri="{BB962C8B-B14F-4D97-AF65-F5344CB8AC3E}">
        <p14:creationId xmlns:p14="http://schemas.microsoft.com/office/powerpoint/2010/main" val="704348720"/>
      </p:ext>
    </p:extLst>
  </p:cSld>
</p:sld>
</file>

<file path=ppt/slides/slide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5FB365-8BD3-434D-ADCE-D4C1A89D1F99}"/>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Live championship dashboard</a:t>
            </a:r>
          </a:p>
        </p:txBody>
      </p:sp>
      <p:sp>
        <p:nvSpPr>
          <p:cNvPr id="2" name="">
            <a:extLst xmlns:a="http://schemas.openxmlformats.org/drawingml/2006/main">
              <a:ext uri="{FF2B5EF4-FFF2-40B4-BE49-F238E27FC236}">
                <a16:creationId xmlns:a16="http://schemas.microsoft.com/office/drawing/2014/main" id="{08A3556B-4263-4717-9120-5807963CBED1}"/>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49c0632b6f0426d"/>
          <a:stretch xmlns:a="http://schemas.openxmlformats.org/drawingml/2006/main"/>
        </p:blipFill>
        <p:spPr>
          <a:xfrm xmlns:a="http://schemas.openxmlformats.org/drawingml/2006/main">
            <a:off x="2220433" y="1409700"/>
            <a:ext cx="7751135" cy="4629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33985C-AE5E-4146-B1BF-31754615CAAB}"/>
              </a:ext>
            </a:extLst>
          </p:cNvPr>
          <p:cNvSpPr>
            <a:spLocks xmlns:a="http://schemas.openxmlformats.org/drawingml/2006/main" noGrp="1"/>
          </p:cNvSpPr>
          <p:nvPr/>
        </p:nvSpPr>
        <p:spPr>
          <a:xfrm xmlns:a="http://schemas.openxmlformats.org/drawingml/2006/main">
            <a:off x="609600" y="6153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Recorded standings and race navigation come from the private PostgreSQL archive.</a:t>
            </a:r>
          </a:p>
        </p:txBody>
      </p:sp>
    </p:spTree>
    <p:extLst>
      <p:ext uri="{BB962C8B-B14F-4D97-AF65-F5344CB8AC3E}">
        <p14:creationId xmlns:p14="http://schemas.microsoft.com/office/powerpoint/2010/main" val="810735212"/>
      </p:ext>
    </p:extLst>
  </p:cSld>
</p:sld>
</file>

<file path=ppt/slides/slide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11ADF57-1993-4E37-A9A4-66FB8BA77EA7}"/>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Agentic question flow</a:t>
            </a:r>
          </a:p>
        </p:txBody>
      </p:sp>
      <p:sp>
        <p:nvSpPr>
          <p:cNvPr id="2" name="">
            <a:extLst xmlns:a="http://schemas.openxmlformats.org/drawingml/2006/main">
              <a:ext uri="{FF2B5EF4-FFF2-40B4-BE49-F238E27FC236}">
                <a16:creationId xmlns:a16="http://schemas.microsoft.com/office/drawing/2014/main" id="{AA6F001A-822A-424C-91D9-F192AC9DDF05}"/>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B4E746A7-4D8F-420D-B422-4A35B42F8379}"/>
              </a:ext>
            </a:extLst>
          </p:cNvPr>
          <p:cNvSpPr>
            <a:spLocks xmlns:a="http://schemas.openxmlformats.org/drawingml/2006/main" noGrp="1"/>
          </p:cNvSpPr>
          <p:nvPr/>
        </p:nvSpPr>
        <p:spPr>
          <a:xfrm xmlns:a="http://schemas.openxmlformats.org/drawingml/2006/main">
            <a:off x="685800" y="1543050"/>
            <a:ext cx="87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45DD8"/>
                </a:solidFill>
                <a:latin typeface="Arial"/>
                <a:ea typeface="Arial"/>
                <a:cs typeface="Arial"/>
              </a:defRPr>
            </a:pPr>
            <a:r>
              <a:rPr sz="2775" b="1">
                <a:solidFill>
                  <a:srgbClr val="245DD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47743FB-D5BC-40A3-85E3-0723D69F3E05}"/>
              </a:ext>
            </a:extLst>
          </p:cNvPr>
          <p:cNvSpPr>
            <a:spLocks xmlns:a="http://schemas.openxmlformats.org/drawingml/2006/main" noGrp="1"/>
          </p:cNvSpPr>
          <p:nvPr/>
        </p:nvSpPr>
        <p:spPr>
          <a:xfrm xmlns:a="http://schemas.openxmlformats.org/drawingml/2006/main">
            <a:off x="1733550" y="15430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Interpret</a:t>
            </a:r>
          </a:p>
        </p:txBody>
      </p:sp>
      <p:sp>
        <p:nvSpPr>
          <p:cNvPr id="5" name="">
            <a:extLst xmlns:a="http://schemas.openxmlformats.org/drawingml/2006/main">
              <a:ext uri="{FF2B5EF4-FFF2-40B4-BE49-F238E27FC236}">
                <a16:creationId xmlns:a16="http://schemas.microsoft.com/office/drawing/2014/main" id="{65B512D8-E944-488A-BD23-44B24C0D4327}"/>
              </a:ext>
            </a:extLst>
          </p:cNvPr>
          <p:cNvSpPr>
            <a:spLocks xmlns:a="http://schemas.openxmlformats.org/drawingml/2006/main" noGrp="1"/>
          </p:cNvSpPr>
          <p:nvPr/>
        </p:nvSpPr>
        <p:spPr>
          <a:xfrm xmlns:a="http://schemas.openxmlformats.org/drawingml/2006/main">
            <a:off x="3905250" y="1562100"/>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Preserve the question and apply conservative spelling correction</a:t>
            </a:r>
          </a:p>
        </p:txBody>
      </p:sp>
      <p:sp>
        <p:nvSpPr>
          <p:cNvPr id="6" name="">
            <a:extLst xmlns:a="http://schemas.openxmlformats.org/drawingml/2006/main">
              <a:ext uri="{FF2B5EF4-FFF2-40B4-BE49-F238E27FC236}">
                <a16:creationId xmlns:a16="http://schemas.microsoft.com/office/drawing/2014/main" id="{C1313171-8585-422C-A94B-E814E87AB578}"/>
              </a:ext>
            </a:extLst>
          </p:cNvPr>
          <p:cNvSpPr>
            <a:spLocks xmlns:a="http://schemas.openxmlformats.org/drawingml/2006/main" noGrp="1"/>
          </p:cNvSpPr>
          <p:nvPr/>
        </p:nvSpPr>
        <p:spPr>
          <a:xfrm xmlns:a="http://schemas.openxmlformats.org/drawingml/2006/main">
            <a:off x="1733550" y="2200275"/>
            <a:ext cx="950595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7" name="">
            <a:extLst xmlns:a="http://schemas.openxmlformats.org/drawingml/2006/main">
              <a:ext uri="{FF2B5EF4-FFF2-40B4-BE49-F238E27FC236}">
                <a16:creationId xmlns:a16="http://schemas.microsoft.com/office/drawing/2014/main" id="{E3358637-9AC8-432D-83E7-92BD3B4A702E}"/>
              </a:ext>
            </a:extLst>
          </p:cNvPr>
          <p:cNvSpPr>
            <a:spLocks xmlns:a="http://schemas.openxmlformats.org/drawingml/2006/main" noGrp="1"/>
          </p:cNvSpPr>
          <p:nvPr/>
        </p:nvSpPr>
        <p:spPr>
          <a:xfrm xmlns:a="http://schemas.openxmlformats.org/drawingml/2006/main">
            <a:off x="685800" y="2457450"/>
            <a:ext cx="87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45DD8"/>
                </a:solidFill>
                <a:latin typeface="Arial"/>
                <a:ea typeface="Arial"/>
                <a:cs typeface="Arial"/>
              </a:defRPr>
            </a:pPr>
            <a:r>
              <a:rPr sz="2775" b="1">
                <a:solidFill>
                  <a:srgbClr val="245DD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79E229A-3C1D-4318-9C5B-B9796165DA08}"/>
              </a:ext>
            </a:extLst>
          </p:cNvPr>
          <p:cNvSpPr>
            <a:spLocks xmlns:a="http://schemas.openxmlformats.org/drawingml/2006/main" noGrp="1"/>
          </p:cNvSpPr>
          <p:nvPr/>
        </p:nvSpPr>
        <p:spPr>
          <a:xfrm xmlns:a="http://schemas.openxmlformats.org/drawingml/2006/main">
            <a:off x="1733550" y="24574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Retrieve</a:t>
            </a:r>
          </a:p>
        </p:txBody>
      </p:sp>
      <p:sp>
        <p:nvSpPr>
          <p:cNvPr id="9" name="">
            <a:extLst xmlns:a="http://schemas.openxmlformats.org/drawingml/2006/main">
              <a:ext uri="{FF2B5EF4-FFF2-40B4-BE49-F238E27FC236}">
                <a16:creationId xmlns:a16="http://schemas.microsoft.com/office/drawing/2014/main" id="{63DE8245-71C9-4D8A-8BFE-3076CA8622C1}"/>
              </a:ext>
            </a:extLst>
          </p:cNvPr>
          <p:cNvSpPr>
            <a:spLocks xmlns:a="http://schemas.openxmlformats.org/drawingml/2006/main" noGrp="1"/>
          </p:cNvSpPr>
          <p:nvPr/>
        </p:nvSpPr>
        <p:spPr>
          <a:xfrm xmlns:a="http://schemas.openxmlformats.org/drawingml/2006/main">
            <a:off x="3905250" y="2476500"/>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Rank stored entities and select a relationship-closed schema</a:t>
            </a:r>
          </a:p>
        </p:txBody>
      </p:sp>
      <p:sp>
        <p:nvSpPr>
          <p:cNvPr id="10" name="">
            <a:extLst xmlns:a="http://schemas.openxmlformats.org/drawingml/2006/main">
              <a:ext uri="{FF2B5EF4-FFF2-40B4-BE49-F238E27FC236}">
                <a16:creationId xmlns:a16="http://schemas.microsoft.com/office/drawing/2014/main" id="{1FA16F81-F738-4E33-AFE0-9CFB79A451BB}"/>
              </a:ext>
            </a:extLst>
          </p:cNvPr>
          <p:cNvSpPr>
            <a:spLocks xmlns:a="http://schemas.openxmlformats.org/drawingml/2006/main" noGrp="1"/>
          </p:cNvSpPr>
          <p:nvPr/>
        </p:nvSpPr>
        <p:spPr>
          <a:xfrm xmlns:a="http://schemas.openxmlformats.org/drawingml/2006/main">
            <a:off x="1733550" y="3114675"/>
            <a:ext cx="950595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1" name="">
            <a:extLst xmlns:a="http://schemas.openxmlformats.org/drawingml/2006/main">
              <a:ext uri="{FF2B5EF4-FFF2-40B4-BE49-F238E27FC236}">
                <a16:creationId xmlns:a16="http://schemas.microsoft.com/office/drawing/2014/main" id="{775A19A9-50B9-42A0-BD6B-3976FD9FEEA4}"/>
              </a:ext>
            </a:extLst>
          </p:cNvPr>
          <p:cNvSpPr>
            <a:spLocks xmlns:a="http://schemas.openxmlformats.org/drawingml/2006/main" noGrp="1"/>
          </p:cNvSpPr>
          <p:nvPr/>
        </p:nvSpPr>
        <p:spPr>
          <a:xfrm xmlns:a="http://schemas.openxmlformats.org/drawingml/2006/main">
            <a:off x="685800" y="3371850"/>
            <a:ext cx="87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45DD8"/>
                </a:solidFill>
                <a:latin typeface="Arial"/>
                <a:ea typeface="Arial"/>
                <a:cs typeface="Arial"/>
              </a:defRPr>
            </a:pPr>
            <a:r>
              <a:rPr sz="2775" b="1">
                <a:solidFill>
                  <a:srgbClr val="245DD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592319A-821B-4921-AF93-7AA91973014D}"/>
              </a:ext>
            </a:extLst>
          </p:cNvPr>
          <p:cNvSpPr>
            <a:spLocks xmlns:a="http://schemas.openxmlformats.org/drawingml/2006/main" noGrp="1"/>
          </p:cNvSpPr>
          <p:nvPr/>
        </p:nvSpPr>
        <p:spPr>
          <a:xfrm xmlns:a="http://schemas.openxmlformats.org/drawingml/2006/main">
            <a:off x="1733550" y="3371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Route</a:t>
            </a:r>
          </a:p>
        </p:txBody>
      </p:sp>
      <p:sp>
        <p:nvSpPr>
          <p:cNvPr id="13" name="">
            <a:extLst xmlns:a="http://schemas.openxmlformats.org/drawingml/2006/main">
              <a:ext uri="{FF2B5EF4-FFF2-40B4-BE49-F238E27FC236}">
                <a16:creationId xmlns:a16="http://schemas.microsoft.com/office/drawing/2014/main" id="{7A69B008-B0C0-4DA3-9424-57C4034AD83E}"/>
              </a:ext>
            </a:extLst>
          </p:cNvPr>
          <p:cNvSpPr>
            <a:spLocks xmlns:a="http://schemas.openxmlformats.org/drawingml/2006/main" noGrp="1"/>
          </p:cNvSpPr>
          <p:nvPr/>
        </p:nvSpPr>
        <p:spPr>
          <a:xfrm xmlns:a="http://schemas.openxmlformats.org/drawingml/2006/main">
            <a:off x="3905250" y="3390900"/>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Choose statistics, prediction, explanation, clarification or refusal</a:t>
            </a:r>
          </a:p>
        </p:txBody>
      </p:sp>
      <p:sp>
        <p:nvSpPr>
          <p:cNvPr id="14" name="">
            <a:extLst xmlns:a="http://schemas.openxmlformats.org/drawingml/2006/main">
              <a:ext uri="{FF2B5EF4-FFF2-40B4-BE49-F238E27FC236}">
                <a16:creationId xmlns:a16="http://schemas.microsoft.com/office/drawing/2014/main" id="{A6216DEE-6D33-4B41-9FBA-E96AEF5C6689}"/>
              </a:ext>
            </a:extLst>
          </p:cNvPr>
          <p:cNvSpPr>
            <a:spLocks xmlns:a="http://schemas.openxmlformats.org/drawingml/2006/main" noGrp="1"/>
          </p:cNvSpPr>
          <p:nvPr/>
        </p:nvSpPr>
        <p:spPr>
          <a:xfrm xmlns:a="http://schemas.openxmlformats.org/drawingml/2006/main">
            <a:off x="1733550" y="4029075"/>
            <a:ext cx="950595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5" name="">
            <a:extLst xmlns:a="http://schemas.openxmlformats.org/drawingml/2006/main">
              <a:ext uri="{FF2B5EF4-FFF2-40B4-BE49-F238E27FC236}">
                <a16:creationId xmlns:a16="http://schemas.microsoft.com/office/drawing/2014/main" id="{C3116164-F6EF-4ADC-A9E0-27E8E67A4647}"/>
              </a:ext>
            </a:extLst>
          </p:cNvPr>
          <p:cNvSpPr>
            <a:spLocks xmlns:a="http://schemas.openxmlformats.org/drawingml/2006/main" noGrp="1"/>
          </p:cNvSpPr>
          <p:nvPr/>
        </p:nvSpPr>
        <p:spPr>
          <a:xfrm xmlns:a="http://schemas.openxmlformats.org/drawingml/2006/main">
            <a:off x="685800" y="4286250"/>
            <a:ext cx="87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45DD8"/>
                </a:solidFill>
                <a:latin typeface="Arial"/>
                <a:ea typeface="Arial"/>
                <a:cs typeface="Arial"/>
              </a:defRPr>
            </a:pPr>
            <a:r>
              <a:rPr sz="2775" b="1">
                <a:solidFill>
                  <a:srgbClr val="245DD8"/>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015DA9CA-85A9-4681-9681-5E4E7A5239A0}"/>
              </a:ext>
            </a:extLst>
          </p:cNvPr>
          <p:cNvSpPr>
            <a:spLocks xmlns:a="http://schemas.openxmlformats.org/drawingml/2006/main" noGrp="1"/>
          </p:cNvSpPr>
          <p:nvPr/>
        </p:nvSpPr>
        <p:spPr>
          <a:xfrm xmlns:a="http://schemas.openxmlformats.org/drawingml/2006/main">
            <a:off x="1733550" y="4286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Execute</a:t>
            </a:r>
          </a:p>
        </p:txBody>
      </p:sp>
      <p:sp>
        <p:nvSpPr>
          <p:cNvPr id="17" name="">
            <a:extLst xmlns:a="http://schemas.openxmlformats.org/drawingml/2006/main">
              <a:ext uri="{FF2B5EF4-FFF2-40B4-BE49-F238E27FC236}">
                <a16:creationId xmlns:a16="http://schemas.microsoft.com/office/drawing/2014/main" id="{33A17A23-AC6E-4F6E-9A5A-D87FDFA720E9}"/>
              </a:ext>
            </a:extLst>
          </p:cNvPr>
          <p:cNvSpPr>
            <a:spLocks xmlns:a="http://schemas.openxmlformats.org/drawingml/2006/main" noGrp="1"/>
          </p:cNvSpPr>
          <p:nvPr/>
        </p:nvSpPr>
        <p:spPr>
          <a:xfrm xmlns:a="http://schemas.openxmlformats.org/drawingml/2006/main">
            <a:off x="3905250" y="4305300"/>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Validate one SELECT and use the independent read-only role</a:t>
            </a:r>
          </a:p>
        </p:txBody>
      </p:sp>
      <p:sp>
        <p:nvSpPr>
          <p:cNvPr id="18" name="">
            <a:extLst xmlns:a="http://schemas.openxmlformats.org/drawingml/2006/main">
              <a:ext uri="{FF2B5EF4-FFF2-40B4-BE49-F238E27FC236}">
                <a16:creationId xmlns:a16="http://schemas.microsoft.com/office/drawing/2014/main" id="{2704CBC5-4FCF-428F-8FB2-F1844414AFB6}"/>
              </a:ext>
            </a:extLst>
          </p:cNvPr>
          <p:cNvSpPr>
            <a:spLocks xmlns:a="http://schemas.openxmlformats.org/drawingml/2006/main" noGrp="1"/>
          </p:cNvSpPr>
          <p:nvPr/>
        </p:nvSpPr>
        <p:spPr>
          <a:xfrm xmlns:a="http://schemas.openxmlformats.org/drawingml/2006/main">
            <a:off x="1733550" y="4943475"/>
            <a:ext cx="950595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9" name="">
            <a:extLst xmlns:a="http://schemas.openxmlformats.org/drawingml/2006/main">
              <a:ext uri="{FF2B5EF4-FFF2-40B4-BE49-F238E27FC236}">
                <a16:creationId xmlns:a16="http://schemas.microsoft.com/office/drawing/2014/main" id="{6EEE0646-4BD4-4187-8D6A-1EACC76B0DB1}"/>
              </a:ext>
            </a:extLst>
          </p:cNvPr>
          <p:cNvSpPr>
            <a:spLocks xmlns:a="http://schemas.openxmlformats.org/drawingml/2006/main" noGrp="1"/>
          </p:cNvSpPr>
          <p:nvPr/>
        </p:nvSpPr>
        <p:spPr>
          <a:xfrm xmlns:a="http://schemas.openxmlformats.org/drawingml/2006/main">
            <a:off x="685800" y="5200650"/>
            <a:ext cx="87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45DD8"/>
                </a:solidFill>
                <a:latin typeface="Arial"/>
                <a:ea typeface="Arial"/>
                <a:cs typeface="Arial"/>
              </a:defRPr>
            </a:pPr>
            <a:r>
              <a:rPr sz="2775" b="1">
                <a:solidFill>
                  <a:srgbClr val="245DD8"/>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62729619-2008-48B1-80B8-5462513E940E}"/>
              </a:ext>
            </a:extLst>
          </p:cNvPr>
          <p:cNvSpPr>
            <a:spLocks xmlns:a="http://schemas.openxmlformats.org/drawingml/2006/main" noGrp="1"/>
          </p:cNvSpPr>
          <p:nvPr/>
        </p:nvSpPr>
        <p:spPr>
          <a:xfrm xmlns:a="http://schemas.openxmlformats.org/drawingml/2006/main">
            <a:off x="1733550" y="52006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Explain</a:t>
            </a:r>
          </a:p>
        </p:txBody>
      </p:sp>
      <p:sp>
        <p:nvSpPr>
          <p:cNvPr id="21" name="">
            <a:extLst xmlns:a="http://schemas.openxmlformats.org/drawingml/2006/main">
              <a:ext uri="{FF2B5EF4-FFF2-40B4-BE49-F238E27FC236}">
                <a16:creationId xmlns:a16="http://schemas.microsoft.com/office/drawing/2014/main" id="{D100E4C1-D1B9-4BB5-8FFC-4DF16962B338}"/>
              </a:ext>
            </a:extLst>
          </p:cNvPr>
          <p:cNvSpPr>
            <a:spLocks xmlns:a="http://schemas.openxmlformats.org/drawingml/2006/main" noGrp="1"/>
          </p:cNvSpPr>
          <p:nvPr/>
        </p:nvSpPr>
        <p:spPr>
          <a:xfrm xmlns:a="http://schemas.openxmlformats.org/drawingml/2006/main">
            <a:off x="3905250" y="5219700"/>
            <a:ext cx="733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Render rows or model output with an allowlisted trace</a:t>
            </a:r>
          </a:p>
        </p:txBody>
      </p:sp>
    </p:spTree>
    <p:extLst>
      <p:ext uri="{BB962C8B-B14F-4D97-AF65-F5344CB8AC3E}">
        <p14:creationId xmlns:p14="http://schemas.microsoft.com/office/powerpoint/2010/main" val="812194899"/>
      </p:ext>
    </p:extLst>
  </p:cSld>
</p:sld>
</file>

<file path=ppt/slides/slide6.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1E4A93-A0BF-44D2-B2DB-107B258CD1CF}"/>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Query augmentation and reranking</a:t>
            </a:r>
          </a:p>
        </p:txBody>
      </p:sp>
      <p:sp>
        <p:nvSpPr>
          <p:cNvPr id="2" name="">
            <a:extLst xmlns:a="http://schemas.openxmlformats.org/drawingml/2006/main">
              <a:ext uri="{FF2B5EF4-FFF2-40B4-BE49-F238E27FC236}">
                <a16:creationId xmlns:a16="http://schemas.microsoft.com/office/drawing/2014/main" id="{4531DFEB-2DAC-4DBE-B219-1B553BC406D0}"/>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FB3F773A-66A6-44EE-9612-E05134F2FF1F}"/>
              </a:ext>
            </a:extLst>
          </p:cNvPr>
          <p:cNvSpPr>
            <a:spLocks xmlns:a="http://schemas.openxmlformats.org/drawingml/2006/main" noGrp="1"/>
          </p:cNvSpPr>
          <p:nvPr/>
        </p:nvSpPr>
        <p:spPr>
          <a:xfrm xmlns:a="http://schemas.openxmlformats.org/drawingml/2006/main">
            <a:off x="609600" y="15621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Original</a:t>
            </a:r>
          </a:p>
        </p:txBody>
      </p:sp>
      <p:sp>
        <p:nvSpPr>
          <p:cNvPr id="4" name="">
            <a:extLst xmlns:a="http://schemas.openxmlformats.org/drawingml/2006/main">
              <a:ext uri="{FF2B5EF4-FFF2-40B4-BE49-F238E27FC236}">
                <a16:creationId xmlns:a16="http://schemas.microsoft.com/office/drawing/2014/main" id="{F492125A-5C14-4F0C-9D32-E49444851E6B}"/>
              </a:ext>
            </a:extLst>
          </p:cNvPr>
          <p:cNvSpPr>
            <a:spLocks xmlns:a="http://schemas.openxmlformats.org/drawingml/2006/main" noGrp="1"/>
          </p:cNvSpPr>
          <p:nvPr/>
        </p:nvSpPr>
        <p:spPr>
          <a:xfrm xmlns:a="http://schemas.openxmlformats.org/drawingml/2006/main">
            <a:off x="2381250" y="1504950"/>
            <a:ext cx="866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D50"/>
                </a:solidFill>
                <a:latin typeface="Arial"/>
                <a:ea typeface="Arial"/>
                <a:cs typeface="Arial"/>
              </a:defRPr>
            </a:pPr>
            <a:r>
              <a:rPr sz="2325" b="1">
                <a:solidFill>
                  <a:srgbClr val="142D50"/>
                </a:solidFill>
                <a:latin typeface="Arial"/>
                <a:ea typeface="Arial"/>
                <a:cs typeface="Arial"/>
              </a:rPr>
              <a:t>How many race wins does Lewis Hamliton have?</a:t>
            </a:r>
          </a:p>
        </p:txBody>
      </p:sp>
      <p:sp>
        <p:nvSpPr>
          <p:cNvPr id="5" name="">
            <a:extLst xmlns:a="http://schemas.openxmlformats.org/drawingml/2006/main">
              <a:ext uri="{FF2B5EF4-FFF2-40B4-BE49-F238E27FC236}">
                <a16:creationId xmlns:a16="http://schemas.microsoft.com/office/drawing/2014/main" id="{9B4D5E0B-BAD3-4462-91D3-C5D4DA8C779D}"/>
              </a:ext>
            </a:extLst>
          </p:cNvPr>
          <p:cNvSpPr>
            <a:spLocks xmlns:a="http://schemas.openxmlformats.org/drawingml/2006/main" noGrp="1"/>
          </p:cNvSpPr>
          <p:nvPr/>
        </p:nvSpPr>
        <p:spPr>
          <a:xfrm xmlns:a="http://schemas.openxmlformats.org/drawingml/2006/main">
            <a:off x="609600" y="2209800"/>
            <a:ext cx="1097280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6" name="">
            <a:extLst xmlns:a="http://schemas.openxmlformats.org/drawingml/2006/main">
              <a:ext uri="{FF2B5EF4-FFF2-40B4-BE49-F238E27FC236}">
                <a16:creationId xmlns:a16="http://schemas.microsoft.com/office/drawing/2014/main" id="{B8799A2D-2E5A-4C7C-A43B-DAFD085447FA}"/>
              </a:ext>
            </a:extLst>
          </p:cNvPr>
          <p:cNvSpPr>
            <a:spLocks xmlns:a="http://schemas.openxmlformats.org/drawingml/2006/main" noGrp="1"/>
          </p:cNvSpPr>
          <p:nvPr/>
        </p:nvSpPr>
        <p:spPr>
          <a:xfrm xmlns:a="http://schemas.openxmlformats.org/drawingml/2006/main">
            <a:off x="609600" y="24765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Corrected</a:t>
            </a:r>
          </a:p>
        </p:txBody>
      </p:sp>
      <p:sp>
        <p:nvSpPr>
          <p:cNvPr id="7" name="">
            <a:extLst xmlns:a="http://schemas.openxmlformats.org/drawingml/2006/main">
              <a:ext uri="{FF2B5EF4-FFF2-40B4-BE49-F238E27FC236}">
                <a16:creationId xmlns:a16="http://schemas.microsoft.com/office/drawing/2014/main" id="{43D0A503-F326-4718-8C0E-0E078A53B25A}"/>
              </a:ext>
            </a:extLst>
          </p:cNvPr>
          <p:cNvSpPr>
            <a:spLocks xmlns:a="http://schemas.openxmlformats.org/drawingml/2006/main" noGrp="1"/>
          </p:cNvSpPr>
          <p:nvPr/>
        </p:nvSpPr>
        <p:spPr>
          <a:xfrm xmlns:a="http://schemas.openxmlformats.org/drawingml/2006/main">
            <a:off x="2381250" y="24003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45DD8"/>
                </a:solidFill>
                <a:latin typeface="Arial"/>
                <a:ea typeface="Arial"/>
                <a:cs typeface="Arial"/>
              </a:defRPr>
            </a:pPr>
            <a:r>
              <a:rPr sz="2325" b="1">
                <a:solidFill>
                  <a:srgbClr val="245DD8"/>
                </a:solidFill>
                <a:latin typeface="Arial"/>
                <a:ea typeface="Arial"/>
                <a:cs typeface="Arial"/>
              </a:rPr>
              <a:t>Lewis Hamilton</a:t>
            </a:r>
          </a:p>
        </p:txBody>
      </p:sp>
      <p:sp>
        <p:nvSpPr>
          <p:cNvPr id="8" name="">
            <a:extLst xmlns:a="http://schemas.openxmlformats.org/drawingml/2006/main">
              <a:ext uri="{FF2B5EF4-FFF2-40B4-BE49-F238E27FC236}">
                <a16:creationId xmlns:a16="http://schemas.microsoft.com/office/drawing/2014/main" id="{7E691790-A248-4AB9-B9E8-F69164651221}"/>
              </a:ext>
            </a:extLst>
          </p:cNvPr>
          <p:cNvSpPr>
            <a:spLocks xmlns:a="http://schemas.openxmlformats.org/drawingml/2006/main" noGrp="1"/>
          </p:cNvSpPr>
          <p:nvPr/>
        </p:nvSpPr>
        <p:spPr>
          <a:xfrm xmlns:a="http://schemas.openxmlformats.org/drawingml/2006/main">
            <a:off x="6000750" y="250507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stored driver ID 1</a:t>
            </a:r>
          </a:p>
        </p:txBody>
      </p:sp>
      <p:sp>
        <p:nvSpPr>
          <p:cNvPr id="9" name="">
            <a:extLst xmlns:a="http://schemas.openxmlformats.org/drawingml/2006/main">
              <a:ext uri="{FF2B5EF4-FFF2-40B4-BE49-F238E27FC236}">
                <a16:creationId xmlns:a16="http://schemas.microsoft.com/office/drawing/2014/main" id="{CAEF10EC-D924-4D77-AECA-42295AC41AD0}"/>
              </a:ext>
            </a:extLst>
          </p:cNvPr>
          <p:cNvSpPr>
            <a:spLocks xmlns:a="http://schemas.openxmlformats.org/drawingml/2006/main" noGrp="1"/>
          </p:cNvSpPr>
          <p:nvPr/>
        </p:nvSpPr>
        <p:spPr>
          <a:xfrm xmlns:a="http://schemas.openxmlformats.org/drawingml/2006/main">
            <a:off x="609600" y="3143250"/>
            <a:ext cx="1097280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0" name="">
            <a:extLst xmlns:a="http://schemas.openxmlformats.org/drawingml/2006/main">
              <a:ext uri="{FF2B5EF4-FFF2-40B4-BE49-F238E27FC236}">
                <a16:creationId xmlns:a16="http://schemas.microsoft.com/office/drawing/2014/main" id="{7BFE9EB8-6F7E-45DA-A41D-716A00A44FE9}"/>
              </a:ext>
            </a:extLst>
          </p:cNvPr>
          <p:cNvSpPr>
            <a:spLocks xmlns:a="http://schemas.openxmlformats.org/drawingml/2006/main" noGrp="1"/>
          </p:cNvSpPr>
          <p:nvPr/>
        </p:nvSpPr>
        <p:spPr>
          <a:xfrm xmlns:a="http://schemas.openxmlformats.org/drawingml/2006/main">
            <a:off x="609600" y="34290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Ranked schema</a:t>
            </a:r>
          </a:p>
        </p:txBody>
      </p:sp>
      <p:sp>
        <p:nvSpPr>
          <p:cNvPr id="11" name="">
            <a:extLst xmlns:a="http://schemas.openxmlformats.org/drawingml/2006/main">
              <a:ext uri="{FF2B5EF4-FFF2-40B4-BE49-F238E27FC236}">
                <a16:creationId xmlns:a16="http://schemas.microsoft.com/office/drawing/2014/main" id="{7F1BAAC1-E931-40F4-9307-B3AE6E210F18}"/>
              </a:ext>
            </a:extLst>
          </p:cNvPr>
          <p:cNvSpPr>
            <a:spLocks xmlns:a="http://schemas.openxmlformats.org/drawingml/2006/main" noGrp="1"/>
          </p:cNvSpPr>
          <p:nvPr/>
        </p:nvSpPr>
        <p:spPr>
          <a:xfrm xmlns:a="http://schemas.openxmlformats.org/drawingml/2006/main">
            <a:off x="2857500" y="335280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D50"/>
                </a:solidFill>
                <a:latin typeface="Arial"/>
                <a:ea typeface="Arial"/>
                <a:cs typeface="Arial"/>
              </a:defRPr>
            </a:pPr>
            <a:r>
              <a:rPr sz="2325" b="1">
                <a:solidFill>
                  <a:srgbClr val="142D50"/>
                </a:solidFill>
                <a:latin typeface="Arial"/>
                <a:ea typeface="Arial"/>
                <a:cs typeface="Arial"/>
              </a:rPr>
              <a:t>drivers, races, results</a:t>
            </a:r>
          </a:p>
        </p:txBody>
      </p:sp>
      <p:sp>
        <p:nvSpPr>
          <p:cNvPr id="12" name="">
            <a:extLst xmlns:a="http://schemas.openxmlformats.org/drawingml/2006/main">
              <a:ext uri="{FF2B5EF4-FFF2-40B4-BE49-F238E27FC236}">
                <a16:creationId xmlns:a16="http://schemas.microsoft.com/office/drawing/2014/main" id="{D38B64A0-D919-48C3-8EFC-09FFF94094B5}"/>
              </a:ext>
            </a:extLst>
          </p:cNvPr>
          <p:cNvSpPr>
            <a:spLocks xmlns:a="http://schemas.openxmlformats.org/drawingml/2006/main" noGrp="1"/>
          </p:cNvSpPr>
          <p:nvPr/>
        </p:nvSpPr>
        <p:spPr>
          <a:xfrm xmlns:a="http://schemas.openxmlformats.org/drawingml/2006/main">
            <a:off x="609600" y="41148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F"/>
                </a:solidFill>
                <a:latin typeface="Arial"/>
                <a:ea typeface="Arial"/>
                <a:cs typeface="Arial"/>
              </a:defRPr>
            </a:pPr>
            <a:r>
              <a:rPr sz="1875" b="0">
                <a:solidFill>
                  <a:srgbClr val="51677F"/>
                </a:solidFill>
                <a:latin typeface="Arial"/>
                <a:ea typeface="Arial"/>
                <a:cs typeface="Arial"/>
              </a:rPr>
              <a:t>Join closure keeps the prompt compact and preserves the path to season results.</a:t>
            </a:r>
          </a:p>
        </p:txBody>
      </p:sp>
      <p:sp>
        <p:nvSpPr>
          <p:cNvPr id="13" name="">
            <a:extLst xmlns:a="http://schemas.openxmlformats.org/drawingml/2006/main">
              <a:ext uri="{FF2B5EF4-FFF2-40B4-BE49-F238E27FC236}">
                <a16:creationId xmlns:a16="http://schemas.microsoft.com/office/drawing/2014/main" id="{4CB0769C-C73F-493E-B547-1C67FB85B509}"/>
              </a:ext>
            </a:extLst>
          </p:cNvPr>
          <p:cNvSpPr>
            <a:spLocks xmlns:a="http://schemas.openxmlformats.org/drawingml/2006/main" noGrp="1"/>
          </p:cNvSpPr>
          <p:nvPr/>
        </p:nvSpPr>
        <p:spPr>
          <a:xfrm xmlns:a="http://schemas.openxmlformats.org/drawingml/2006/main">
            <a:off x="609600" y="50292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51677F"/>
                </a:solidFill>
                <a:latin typeface="Arial"/>
                <a:ea typeface="Arial"/>
                <a:cs typeface="Arial"/>
              </a:defRPr>
            </a:pPr>
            <a:r>
              <a:rPr sz="1650" b="1">
                <a:solidFill>
                  <a:srgbClr val="51677F"/>
                </a:solidFill>
                <a:latin typeface="Arial"/>
                <a:ea typeface="Arial"/>
                <a:cs typeface="Arial"/>
              </a:rPr>
              <a:t>Final browser assertion</a:t>
            </a:r>
          </a:p>
        </p:txBody>
      </p:sp>
      <p:sp>
        <p:nvSpPr>
          <p:cNvPr id="14" name="">
            <a:extLst xmlns:a="http://schemas.openxmlformats.org/drawingml/2006/main">
              <a:ext uri="{FF2B5EF4-FFF2-40B4-BE49-F238E27FC236}">
                <a16:creationId xmlns:a16="http://schemas.microsoft.com/office/drawing/2014/main" id="{899E9FAF-14D3-428A-82CF-8C8AA3742CAC}"/>
              </a:ext>
            </a:extLst>
          </p:cNvPr>
          <p:cNvSpPr>
            <a:spLocks xmlns:a="http://schemas.openxmlformats.org/drawingml/2006/main" noGrp="1"/>
          </p:cNvSpPr>
          <p:nvPr/>
        </p:nvSpPr>
        <p:spPr>
          <a:xfrm xmlns:a="http://schemas.openxmlformats.org/drawingml/2006/main">
            <a:off x="3333750" y="4895850"/>
            <a:ext cx="771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834A"/>
                </a:solidFill>
                <a:latin typeface="Arial"/>
                <a:ea typeface="Arial"/>
                <a:cs typeface="Arial"/>
              </a:defRPr>
            </a:pPr>
            <a:r>
              <a:rPr sz="2400" b="1">
                <a:solidFill>
                  <a:srgbClr val="17834A"/>
                </a:solidFill>
                <a:latin typeface="Arial"/>
                <a:ea typeface="Arial"/>
                <a:cs typeface="Arial"/>
              </a:rPr>
              <a:t>Trace entity: Lewis Hamilton only</a:t>
            </a:r>
          </a:p>
        </p:txBody>
      </p:sp>
      <p:sp>
        <p:nvSpPr>
          <p:cNvPr id="15" name="">
            <a:extLst xmlns:a="http://schemas.openxmlformats.org/drawingml/2006/main">
              <a:ext uri="{FF2B5EF4-FFF2-40B4-BE49-F238E27FC236}">
                <a16:creationId xmlns:a16="http://schemas.microsoft.com/office/drawing/2014/main" id="{EDDF5F50-4C08-45A9-BF51-220520F7368F}"/>
              </a:ext>
            </a:extLst>
          </p:cNvPr>
          <p:cNvSpPr>
            <a:spLocks xmlns:a="http://schemas.openxmlformats.org/drawingml/2006/main" noGrp="1"/>
          </p:cNvSpPr>
          <p:nvPr/>
        </p:nvSpPr>
        <p:spPr>
          <a:xfrm xmlns:a="http://schemas.openxmlformats.org/drawingml/2006/main">
            <a:off x="609600" y="5753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Full-name evidence suppresses overlapping reference and component matches.</a:t>
            </a:r>
          </a:p>
        </p:txBody>
      </p:sp>
    </p:spTree>
    <p:extLst>
      <p:ext uri="{BB962C8B-B14F-4D97-AF65-F5344CB8AC3E}">
        <p14:creationId xmlns:p14="http://schemas.microsoft.com/office/powerpoint/2010/main" val="2093935864"/>
      </p:ext>
    </p:extLst>
  </p:cSld>
</p:sld>
</file>

<file path=ppt/slides/slide7.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1ECD13-1039-491C-93D1-E3D6CD54D47D}"/>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The answer trace is visible</a:t>
            </a:r>
          </a:p>
        </p:txBody>
      </p:sp>
      <p:sp>
        <p:nvSpPr>
          <p:cNvPr id="2" name="">
            <a:extLst xmlns:a="http://schemas.openxmlformats.org/drawingml/2006/main">
              <a:ext uri="{FF2B5EF4-FFF2-40B4-BE49-F238E27FC236}">
                <a16:creationId xmlns:a16="http://schemas.microsoft.com/office/drawing/2014/main" id="{E8EE935B-5812-4B6F-841A-DA0BBE097512}"/>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38396da3a8049b0"/>
          <a:stretch xmlns:a="http://schemas.openxmlformats.org/drawingml/2006/main"/>
        </p:blipFill>
        <p:spPr>
          <a:xfrm xmlns:a="http://schemas.openxmlformats.org/drawingml/2006/main">
            <a:off x="1914293" y="1409700"/>
            <a:ext cx="8363415"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9EC4E8-3A5E-40B0-AB3C-5E5CA777468A}"/>
              </a:ext>
            </a:extLst>
          </p:cNvPr>
          <p:cNvSpPr>
            <a:spLocks xmlns:a="http://schemas.openxmlformats.org/drawingml/2006/main" noGrp="1"/>
          </p:cNvSpPr>
          <p:nvPr/>
        </p:nvSpPr>
        <p:spPr>
          <a:xfrm xmlns:a="http://schemas.openxmlformats.org/drawingml/2006/main">
            <a:off x="609600" y="62293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The trace omits prompts, provider payloads, raw errors, connection strings and credentials.</a:t>
            </a:r>
          </a:p>
        </p:txBody>
      </p:sp>
    </p:spTree>
    <p:extLst>
      <p:ext uri="{BB962C8B-B14F-4D97-AF65-F5344CB8AC3E}">
        <p14:creationId xmlns:p14="http://schemas.microsoft.com/office/powerpoint/2010/main" val="639242453"/>
      </p:ext>
    </p:extLst>
  </p:cSld>
</p:sld>
</file>

<file path=ppt/slides/slide8.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5F7CCF-FCAE-45E4-B30D-7F044B39130F}"/>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Read-only SQL and bounded repair</a:t>
            </a:r>
          </a:p>
        </p:txBody>
      </p:sp>
      <p:sp>
        <p:nvSpPr>
          <p:cNvPr id="2" name="">
            <a:extLst xmlns:a="http://schemas.openxmlformats.org/drawingml/2006/main">
              <a:ext uri="{FF2B5EF4-FFF2-40B4-BE49-F238E27FC236}">
                <a16:creationId xmlns:a16="http://schemas.microsoft.com/office/drawing/2014/main" id="{ACD0F166-0258-4718-B806-C3E47E0A4A12}"/>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E79D5784-8944-4AD0-829A-14DCE1216DAC}"/>
              </a:ext>
            </a:extLst>
          </p:cNvPr>
          <p:cNvSpPr>
            <a:spLocks xmlns:a="http://schemas.openxmlformats.org/drawingml/2006/main" noGrp="1"/>
          </p:cNvSpPr>
          <p:nvPr/>
        </p:nvSpPr>
        <p:spPr>
          <a:xfrm xmlns:a="http://schemas.openxmlformats.org/drawingml/2006/main">
            <a:off x="609600" y="1600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SQLGlot accepts one SELECT over known tables and functions.</a:t>
            </a:r>
          </a:p>
        </p:txBody>
      </p:sp>
      <p:sp>
        <p:nvSpPr>
          <p:cNvPr id="4" name="">
            <a:extLst xmlns:a="http://schemas.openxmlformats.org/drawingml/2006/main">
              <a:ext uri="{FF2B5EF4-FFF2-40B4-BE49-F238E27FC236}">
                <a16:creationId xmlns:a16="http://schemas.microsoft.com/office/drawing/2014/main" id="{9657C9C8-9FC4-4A6D-89CC-C64577882629}"/>
              </a:ext>
            </a:extLst>
          </p:cNvPr>
          <p:cNvSpPr>
            <a:spLocks xmlns:a="http://schemas.openxmlformats.org/drawingml/2006/main" noGrp="1"/>
          </p:cNvSpPr>
          <p:nvPr/>
        </p:nvSpPr>
        <p:spPr>
          <a:xfrm xmlns:a="http://schemas.openxmlformats.org/drawingml/2006/main">
            <a:off x="609600" y="24765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Result caps, statement timeouts and aggregate-scope checks limit expensive or raw output.</a:t>
            </a:r>
          </a:p>
        </p:txBody>
      </p:sp>
      <p:sp>
        <p:nvSpPr>
          <p:cNvPr id="5" name="">
            <a:extLst xmlns:a="http://schemas.openxmlformats.org/drawingml/2006/main">
              <a:ext uri="{FF2B5EF4-FFF2-40B4-BE49-F238E27FC236}">
                <a16:creationId xmlns:a16="http://schemas.microsoft.com/office/drawing/2014/main" id="{98D6708F-C8FF-4B2E-930A-69864DA37DF7}"/>
              </a:ext>
            </a:extLst>
          </p:cNvPr>
          <p:cNvSpPr>
            <a:spLocks xmlns:a="http://schemas.openxmlformats.org/drawingml/2006/main" noGrp="1"/>
          </p:cNvSpPr>
          <p:nvPr/>
        </p:nvSpPr>
        <p:spPr>
          <a:xfrm xmlns:a="http://schemas.openxmlformats.org/drawingml/2006/main">
            <a:off x="609600" y="33528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A separate PostgreSQL role denies DELETE, CREATE and other mutations.</a:t>
            </a:r>
          </a:p>
        </p:txBody>
      </p:sp>
      <p:sp>
        <p:nvSpPr>
          <p:cNvPr id="6" name="">
            <a:extLst xmlns:a="http://schemas.openxmlformats.org/drawingml/2006/main">
              <a:ext uri="{FF2B5EF4-FFF2-40B4-BE49-F238E27FC236}">
                <a16:creationId xmlns:a16="http://schemas.microsoft.com/office/drawing/2014/main" id="{FE6CEBD0-62D6-46AF-8D7D-B3122484DCB9}"/>
              </a:ext>
            </a:extLst>
          </p:cNvPr>
          <p:cNvSpPr>
            <a:spLocks xmlns:a="http://schemas.openxmlformats.org/drawingml/2006/main" noGrp="1"/>
          </p:cNvSpPr>
          <p:nvPr/>
        </p:nvSpPr>
        <p:spPr>
          <a:xfrm xmlns:a="http://schemas.openxmlformats.org/drawingml/2006/main">
            <a:off x="609600" y="42291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D50"/>
                </a:solidFill>
                <a:latin typeface="Arial"/>
                <a:ea typeface="Arial"/>
                <a:cs typeface="Arial"/>
              </a:defRPr>
            </a:pPr>
            <a:r>
              <a:rPr sz="2025" b="0">
                <a:solidFill>
                  <a:srgbClr val="142D50"/>
                </a:solidFill>
                <a:latin typeface="Arial"/>
                <a:ea typeface="Arial"/>
                <a:cs typeface="Arial"/>
              </a:rPr>
              <a:t>One rejected plan can receive one repair; a request cannot exceed three model calls.</a:t>
            </a:r>
          </a:p>
        </p:txBody>
      </p:sp>
      <p:sp>
        <p:nvSpPr>
          <p:cNvPr id="7" name="">
            <a:extLst xmlns:a="http://schemas.openxmlformats.org/drawingml/2006/main">
              <a:ext uri="{FF2B5EF4-FFF2-40B4-BE49-F238E27FC236}">
                <a16:creationId xmlns:a16="http://schemas.microsoft.com/office/drawing/2014/main" id="{CF47D8B9-57BD-4AD7-AD91-FF2D9BEE25C1}"/>
              </a:ext>
            </a:extLst>
          </p:cNvPr>
          <p:cNvSpPr>
            <a:spLocks xmlns:a="http://schemas.openxmlformats.org/drawingml/2006/main" noGrp="1"/>
          </p:cNvSpPr>
          <p:nvPr/>
        </p:nvSpPr>
        <p:spPr>
          <a:xfrm xmlns:a="http://schemas.openxmlformats.org/drawingml/2006/main">
            <a:off x="609600" y="521970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7834A"/>
                </a:solidFill>
                <a:latin typeface="Arial"/>
                <a:ea typeface="Arial"/>
                <a:cs typeface="Arial"/>
              </a:defRPr>
            </a:pPr>
            <a:r>
              <a:rPr sz="4050" b="1">
                <a:solidFill>
                  <a:srgbClr val="17834A"/>
                </a:solidFill>
                <a:latin typeface="Arial"/>
                <a:ea typeface="Arial"/>
                <a:cs typeface="Arial"/>
              </a:rPr>
              <a:t>4 / 4</a:t>
            </a:r>
          </a:p>
        </p:txBody>
      </p:sp>
      <p:sp>
        <p:nvSpPr>
          <p:cNvPr id="8" name="">
            <a:extLst xmlns:a="http://schemas.openxmlformats.org/drawingml/2006/main">
              <a:ext uri="{FF2B5EF4-FFF2-40B4-BE49-F238E27FC236}">
                <a16:creationId xmlns:a16="http://schemas.microsoft.com/office/drawing/2014/main" id="{1B130BEB-3B3C-425F-ABEB-49C04C760A2D}"/>
              </a:ext>
            </a:extLst>
          </p:cNvPr>
          <p:cNvSpPr>
            <a:spLocks xmlns:a="http://schemas.openxmlformats.org/drawingml/2006/main" noGrp="1"/>
          </p:cNvSpPr>
          <p:nvPr/>
        </p:nvSpPr>
        <p:spPr>
          <a:xfrm xmlns:a="http://schemas.openxmlformats.org/drawingml/2006/main">
            <a:off x="609600" y="59626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PostgreSQL integration checks passed</a:t>
            </a:r>
          </a:p>
        </p:txBody>
      </p:sp>
      <p:sp>
        <p:nvSpPr>
          <p:cNvPr id="9" name="">
            <a:extLst xmlns:a="http://schemas.openxmlformats.org/drawingml/2006/main">
              <a:ext uri="{FF2B5EF4-FFF2-40B4-BE49-F238E27FC236}">
                <a16:creationId xmlns:a16="http://schemas.microsoft.com/office/drawing/2014/main" id="{0EA7D93F-2A79-4512-B47F-3BD5C18E7EB3}"/>
              </a:ext>
            </a:extLst>
          </p:cNvPr>
          <p:cNvSpPr>
            <a:spLocks xmlns:a="http://schemas.openxmlformats.org/drawingml/2006/main" noGrp="1"/>
          </p:cNvSpPr>
          <p:nvPr/>
        </p:nvSpPr>
        <p:spPr>
          <a:xfrm xmlns:a="http://schemas.openxmlformats.org/drawingml/2006/main">
            <a:off x="4762500" y="521970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728C5C2C-4739-48EA-AC2F-B283C4A9157A}"/>
              </a:ext>
            </a:extLst>
          </p:cNvPr>
          <p:cNvSpPr>
            <a:spLocks xmlns:a="http://schemas.openxmlformats.org/drawingml/2006/main" noGrp="1"/>
          </p:cNvSpPr>
          <p:nvPr/>
        </p:nvSpPr>
        <p:spPr>
          <a:xfrm xmlns:a="http://schemas.openxmlformats.org/drawingml/2006/main">
            <a:off x="4762500" y="596265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live repairs in final evaluation</a:t>
            </a:r>
          </a:p>
        </p:txBody>
      </p:sp>
      <p:sp>
        <p:nvSpPr>
          <p:cNvPr id="11" name="">
            <a:extLst xmlns:a="http://schemas.openxmlformats.org/drawingml/2006/main">
              <a:ext uri="{FF2B5EF4-FFF2-40B4-BE49-F238E27FC236}">
                <a16:creationId xmlns:a16="http://schemas.microsoft.com/office/drawing/2014/main" id="{108591E2-9E8F-41FE-80C5-E397576C3B98}"/>
              </a:ext>
            </a:extLst>
          </p:cNvPr>
          <p:cNvSpPr>
            <a:spLocks xmlns:a="http://schemas.openxmlformats.org/drawingml/2006/main" noGrp="1"/>
          </p:cNvSpPr>
          <p:nvPr/>
        </p:nvSpPr>
        <p:spPr>
          <a:xfrm xmlns:a="http://schemas.openxmlformats.org/drawingml/2006/main">
            <a:off x="8477250" y="521970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A34D1B"/>
                </a:solidFill>
                <a:latin typeface="Arial"/>
                <a:ea typeface="Arial"/>
                <a:cs typeface="Arial"/>
              </a:defRPr>
            </a:pPr>
            <a:r>
              <a:rPr sz="4050" b="1">
                <a:solidFill>
                  <a:srgbClr val="A34D1B"/>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38892F57-6A35-41C4-83AD-E16D67A8E3EB}"/>
              </a:ext>
            </a:extLst>
          </p:cNvPr>
          <p:cNvSpPr>
            <a:spLocks xmlns:a="http://schemas.openxmlformats.org/drawingml/2006/main" noGrp="1"/>
          </p:cNvSpPr>
          <p:nvPr/>
        </p:nvSpPr>
        <p:spPr>
          <a:xfrm xmlns:a="http://schemas.openxmlformats.org/drawingml/2006/main">
            <a:off x="8477250" y="59626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maximum provider calls per request</a:t>
            </a:r>
          </a:p>
        </p:txBody>
      </p:sp>
    </p:spTree>
    <p:extLst>
      <p:ext uri="{BB962C8B-B14F-4D97-AF65-F5344CB8AC3E}">
        <p14:creationId xmlns:p14="http://schemas.microsoft.com/office/powerpoint/2010/main" val="1833263214"/>
      </p:ext>
    </p:extLst>
  </p:cSld>
</p:sld>
</file>

<file path=ppt/slides/slide9.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0C9499-12B5-473E-A365-1373F44DE5F0}"/>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Prediction methodology</a:t>
            </a:r>
          </a:p>
        </p:txBody>
      </p:sp>
      <p:sp>
        <p:nvSpPr>
          <p:cNvPr id="2" name="">
            <a:extLst xmlns:a="http://schemas.openxmlformats.org/drawingml/2006/main">
              <a:ext uri="{FF2B5EF4-FFF2-40B4-BE49-F238E27FC236}">
                <a16:creationId xmlns:a16="http://schemas.microsoft.com/office/drawing/2014/main" id="{088C9D46-55BC-4ACC-88D8-3FE26C5B81C3}"/>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graphicFrame>
        <p:nvGraphicFramePr>
          <p:cNvPr id="8" name=""/>
          <p:cNvGraphicFramePr/>
          <p:nvPr/>
        </p:nvGraphicFramePr>
        <p:xfrm>
          <a:off xmlns:a="http://schemas.openxmlformats.org/drawingml/2006/main" x="609600" y="1600200"/>
          <a:ext xmlns:a="http://schemas.openxmlformats.org/drawingml/2006/main" cx="10972800" cy="2781300"/>
        </p:xfrm>
        <a:graphic xmlns:a="http://schemas.openxmlformats.org/drawingml/2006/main">
          <a:graphicData uri="http://schemas.openxmlformats.org/drawingml/2006/table">
            <a:tbl>
              <a:tblPr/>
              <a:tblGrid>
                <a:gridCol w="2857500"/>
                <a:gridCol w="2381250"/>
                <a:gridCol w="5734050"/>
              </a:tblGrid>
              <a:tr h="695325">
                <a:tc>
                  <a:txBody>
                    <a:bodyPr/>
                    <a:lstStyle/>
                    <a:p>
                      <a:r>
                        <a:rPr sz="1650" b="1">
                          <a:solidFill>
                            <a:srgbClr val="FFFFFF"/>
                          </a:solidFill>
                          <a:latin typeface="Arial"/>
                          <a:ea typeface="Arial"/>
                          <a:cs typeface="Arial"/>
                        </a:rPr>
                        <a:t>Partition</a:t>
                      </a:r>
                    </a:p>
                  </a:txBody>
                  <a:tcPr marL="91440" marR="91440" marT="45720" marB="45720">
                    <a:solidFill>
                      <a:srgbClr val="142D50"/>
                    </a:solidFill>
                  </a:tcPr>
                </a:tc>
                <a:tc>
                  <a:txBody>
                    <a:bodyPr/>
                    <a:lstStyle/>
                    <a:p>
                      <a:r>
                        <a:rPr sz="1650" b="1">
                          <a:solidFill>
                            <a:srgbClr val="FFFFFF"/>
                          </a:solidFill>
                          <a:latin typeface="Arial"/>
                          <a:ea typeface="Arial"/>
                          <a:cs typeface="Arial"/>
                        </a:rPr>
                        <a:t>Seasons</a:t>
                      </a:r>
                    </a:p>
                  </a:txBody>
                  <a:tcPr marL="91440" marR="91440" marT="45720" marB="45720">
                    <a:solidFill>
                      <a:srgbClr val="142D50"/>
                    </a:solidFill>
                  </a:tcPr>
                </a:tc>
                <a:tc>
                  <a:txBody>
                    <a:bodyPr/>
                    <a:lstStyle/>
                    <a:p>
                      <a:r>
                        <a:rPr sz="1650" b="1">
                          <a:solidFill>
                            <a:srgbClr val="FFFFFF"/>
                          </a:solidFill>
                          <a:latin typeface="Arial"/>
                          <a:ea typeface="Arial"/>
                          <a:cs typeface="Arial"/>
                        </a:rPr>
                        <a:t>Purpose</a:t>
                      </a:r>
                    </a:p>
                  </a:txBody>
                  <a:tcPr marL="91440" marR="91440" marT="45720" marB="45720">
                    <a:solidFill>
                      <a:srgbClr val="142D50"/>
                    </a:solidFill>
                  </a:tcPr>
                </a:tc>
              </a:tr>
              <a:tr h="695325">
                <a:tc>
                  <a:txBody>
                    <a:bodyPr/>
                    <a:lstStyle/>
                    <a:p>
                      <a:r>
                        <a:rPr sz="1575" b="0">
                          <a:solidFill>
                            <a:srgbClr val="142D50"/>
                          </a:solidFill>
                          <a:latin typeface="Arial"/>
                          <a:ea typeface="Arial"/>
                          <a:cs typeface="Arial"/>
                        </a:rPr>
                        <a:t>Training</a:t>
                      </a:r>
                    </a:p>
                  </a:txBody>
                  <a:tcPr marL="91440" marR="91440" marT="45720" marB="45720">
                    <a:solidFill>
                      <a:srgbClr val="FFFFFF"/>
                    </a:solidFill>
                  </a:tcPr>
                </a:tc>
                <a:tc>
                  <a:txBody>
                    <a:bodyPr/>
                    <a:lstStyle/>
                    <a:p>
                      <a:r>
                        <a:rPr sz="1575" b="0">
                          <a:solidFill>
                            <a:srgbClr val="142D50"/>
                          </a:solidFill>
                          <a:latin typeface="Arial"/>
                          <a:ea typeface="Arial"/>
                          <a:cs typeface="Arial"/>
                        </a:rPr>
                        <a:t>2010–2018</a:t>
                      </a:r>
                    </a:p>
                  </a:txBody>
                  <a:tcPr marL="91440" marR="91440" marT="45720" marB="45720">
                    <a:solidFill>
                      <a:srgbClr val="FFFFFF"/>
                    </a:solidFill>
                  </a:tcPr>
                </a:tc>
                <a:tc>
                  <a:txBody>
                    <a:bodyPr/>
                    <a:lstStyle/>
                    <a:p>
                      <a:r>
                        <a:rPr sz="1575" b="0">
                          <a:solidFill>
                            <a:srgbClr val="142D50"/>
                          </a:solidFill>
                          <a:latin typeface="Arial"/>
                          <a:ea typeface="Arial"/>
                          <a:cs typeface="Arial"/>
                        </a:rPr>
                        <a:t>Fit candidate models and training-only calibration</a:t>
                      </a:r>
                    </a:p>
                  </a:txBody>
                  <a:tcPr marL="91440" marR="91440" marT="45720" marB="45720">
                    <a:solidFill>
                      <a:srgbClr val="FFFFFF"/>
                    </a:solidFill>
                  </a:tcPr>
                </a:tc>
              </a:tr>
              <a:tr h="695325">
                <a:tc>
                  <a:txBody>
                    <a:bodyPr/>
                    <a:lstStyle/>
                    <a:p>
                      <a:r>
                        <a:rPr sz="1575" b="0">
                          <a:solidFill>
                            <a:srgbClr val="142D50"/>
                          </a:solidFill>
                          <a:latin typeface="Arial"/>
                          <a:ea typeface="Arial"/>
                          <a:cs typeface="Arial"/>
                        </a:rPr>
                        <a:t>Selection</a:t>
                      </a:r>
                    </a:p>
                  </a:txBody>
                  <a:tcPr marL="91440" marR="91440" marT="45720" marB="45720">
                    <a:solidFill>
                      <a:srgbClr val="E8F0FA"/>
                    </a:solidFill>
                  </a:tcPr>
                </a:tc>
                <a:tc>
                  <a:txBody>
                    <a:bodyPr/>
                    <a:lstStyle/>
                    <a:p>
                      <a:r>
                        <a:rPr sz="1575" b="0">
                          <a:solidFill>
                            <a:srgbClr val="142D50"/>
                          </a:solidFill>
                          <a:latin typeface="Arial"/>
                          <a:ea typeface="Arial"/>
                          <a:cs typeface="Arial"/>
                        </a:rPr>
                        <a:t>2019–2021</a:t>
                      </a:r>
                    </a:p>
                  </a:txBody>
                  <a:tcPr marL="91440" marR="91440" marT="45720" marB="45720">
                    <a:solidFill>
                      <a:srgbClr val="E8F0FA"/>
                    </a:solidFill>
                  </a:tcPr>
                </a:tc>
                <a:tc>
                  <a:txBody>
                    <a:bodyPr/>
                    <a:lstStyle/>
                    <a:p>
                      <a:r>
                        <a:rPr sz="1575" b="0">
                          <a:solidFill>
                            <a:srgbClr val="142D50"/>
                          </a:solidFill>
                          <a:latin typeface="Arial"/>
                          <a:ea typeface="Arial"/>
                          <a:cs typeface="Arial"/>
                        </a:rPr>
                        <a:t>Choose features, model family and calibration</a:t>
                      </a:r>
                    </a:p>
                  </a:txBody>
                  <a:tcPr marL="91440" marR="91440" marT="45720" marB="45720">
                    <a:solidFill>
                      <a:srgbClr val="E8F0FA"/>
                    </a:solidFill>
                  </a:tcPr>
                </a:tc>
              </a:tr>
              <a:tr h="695325">
                <a:tc>
                  <a:txBody>
                    <a:bodyPr/>
                    <a:lstStyle/>
                    <a:p>
                      <a:r>
                        <a:rPr sz="1575" b="0">
                          <a:solidFill>
                            <a:srgbClr val="142D50"/>
                          </a:solidFill>
                          <a:latin typeface="Arial"/>
                          <a:ea typeface="Arial"/>
                          <a:cs typeface="Arial"/>
                        </a:rPr>
                        <a:t>Final test</a:t>
                      </a:r>
                    </a:p>
                  </a:txBody>
                  <a:tcPr marL="91440" marR="91440" marT="45720" marB="45720">
                    <a:solidFill>
                      <a:srgbClr val="FFFFFF"/>
                    </a:solidFill>
                  </a:tcPr>
                </a:tc>
                <a:tc>
                  <a:txBody>
                    <a:bodyPr/>
                    <a:lstStyle/>
                    <a:p>
                      <a:r>
                        <a:rPr sz="1575" b="0">
                          <a:solidFill>
                            <a:srgbClr val="142D50"/>
                          </a:solidFill>
                          <a:latin typeface="Arial"/>
                          <a:ea typeface="Arial"/>
                          <a:cs typeface="Arial"/>
                        </a:rPr>
                        <a:t>2022–2024</a:t>
                      </a:r>
                    </a:p>
                  </a:txBody>
                  <a:tcPr marL="91440" marR="91440" marT="45720" marB="45720">
                    <a:solidFill>
                      <a:srgbClr val="FFFFFF"/>
                    </a:solidFill>
                  </a:tcPr>
                </a:tc>
                <a:tc>
                  <a:txBody>
                    <a:bodyPr/>
                    <a:lstStyle/>
                    <a:p>
                      <a:r>
                        <a:rPr sz="1575" b="0">
                          <a:solidFill>
                            <a:srgbClr val="142D50"/>
                          </a:solidFill>
                          <a:latin typeface="Arial"/>
                          <a:ea typeface="Arial"/>
                          <a:cs typeface="Arial"/>
                        </a:rPr>
                        <a:t>Evaluate the frozen selection once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479783-B265-43B9-82B1-6A52B8AEE0A5}"/>
              </a:ext>
            </a:extLst>
          </p:cNvPr>
          <p:cNvSpPr>
            <a:spLocks xmlns:a="http://schemas.openxmlformats.org/drawingml/2006/main" noGrp="1"/>
          </p:cNvSpPr>
          <p:nvPr/>
        </p:nvSpPr>
        <p:spPr>
          <a:xfrm xmlns:a="http://schemas.openxmlformats.org/drawingml/2006/main">
            <a:off x="609600" y="47625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Features are emitted before any same-date history update.</a:t>
            </a:r>
          </a:p>
        </p:txBody>
      </p:sp>
      <p:sp>
        <p:nvSpPr>
          <p:cNvPr id="5" name="">
            <a:extLst xmlns:a="http://schemas.openxmlformats.org/drawingml/2006/main">
              <a:ext uri="{FF2B5EF4-FFF2-40B4-BE49-F238E27FC236}">
                <a16:creationId xmlns:a16="http://schemas.microsoft.com/office/drawing/2014/main" id="{B2B15E1D-84DF-4F5B-9693-7DC9BB29DD75}"/>
              </a:ext>
            </a:extLst>
          </p:cNvPr>
          <p:cNvSpPr>
            <a:spLocks xmlns:a="http://schemas.openxmlformats.org/drawingml/2006/main" noGrp="1"/>
          </p:cNvSpPr>
          <p:nvPr/>
        </p:nvSpPr>
        <p:spPr>
          <a:xfrm xmlns:a="http://schemas.openxmlformats.org/drawingml/2006/main">
            <a:off x="609600" y="5410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D50"/>
                </a:solidFill>
                <a:latin typeface="Arial"/>
                <a:ea typeface="Arial"/>
                <a:cs typeface="Arial"/>
              </a:defRPr>
            </a:pPr>
            <a:r>
              <a:rPr sz="1950" b="0">
                <a:solidFill>
                  <a:srgbClr val="142D50"/>
                </a:solidFill>
                <a:latin typeface="Arial"/>
                <a:ea typeface="Arial"/>
                <a:cs typeface="Arial"/>
              </a:rPr>
              <a:t>Earlier completed races can inform later features, but test outcomes never refit parameters.</a:t>
            </a:r>
          </a:p>
        </p:txBody>
      </p:sp>
    </p:spTree>
    <p:extLst>
      <p:ext uri="{BB962C8B-B14F-4D97-AF65-F5344CB8AC3E}">
        <p14:creationId xmlns:p14="http://schemas.microsoft.com/office/powerpoint/2010/main" val="391138743"/>
      </p:ext>
    </p:extLst>
  </p:cSld>
</p:sld>
</file>

<file path=ppt/slides/slide10.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378D14-A2FF-4B6E-BBB4-2AAA20473951}"/>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Final model evaluation</a:t>
            </a:r>
          </a:p>
        </p:txBody>
      </p:sp>
      <p:sp>
        <p:nvSpPr>
          <p:cNvPr id="2" name="">
            <a:extLst xmlns:a="http://schemas.openxmlformats.org/drawingml/2006/main">
              <a:ext uri="{FF2B5EF4-FFF2-40B4-BE49-F238E27FC236}">
                <a16:creationId xmlns:a16="http://schemas.microsoft.com/office/drawing/2014/main" id="{72D7D40A-884A-45D9-BC4A-04F4CFCEF011}"/>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graphicFrame>
        <p:nvGraphicFramePr>
          <p:cNvPr id="9" name=""/>
          <p:cNvGraphicFramePr/>
          <p:nvPr/>
        </p:nvGraphicFramePr>
        <p:xfrm>
          <a:off xmlns:a="http://schemas.openxmlformats.org/drawingml/2006/main" x="609600" y="1581150"/>
          <a:ext xmlns:a="http://schemas.openxmlformats.org/drawingml/2006/main" cx="10972800" cy="3333750"/>
        </p:xfrm>
        <a:graphic xmlns:a="http://schemas.openxmlformats.org/drawingml/2006/main">
          <a:graphicData uri="http://schemas.openxmlformats.org/drawingml/2006/table">
            <a:tbl>
              <a:tblPr/>
              <a:tblGrid>
                <a:gridCol w="5638800"/>
                <a:gridCol w="2667000"/>
                <a:gridCol w="2667000"/>
              </a:tblGrid>
              <a:tr h="666750">
                <a:tc>
                  <a:txBody>
                    <a:bodyPr/>
                    <a:lstStyle/>
                    <a:p>
                      <a:r>
                        <a:rPr sz="1650" b="1">
                          <a:solidFill>
                            <a:srgbClr val="FFFFFF"/>
                          </a:solidFill>
                          <a:latin typeface="Arial"/>
                          <a:ea typeface="Arial"/>
                          <a:cs typeface="Arial"/>
                        </a:rPr>
                        <a:t>Metric, 2022–2024</a:t>
                      </a:r>
                    </a:p>
                  </a:txBody>
                  <a:tcPr marL="91440" marR="91440" marT="45720" marB="45720">
                    <a:solidFill>
                      <a:srgbClr val="142D50"/>
                    </a:solidFill>
                  </a:tcPr>
                </a:tc>
                <a:tc>
                  <a:txBody>
                    <a:bodyPr/>
                    <a:lstStyle/>
                    <a:p>
                      <a:r>
                        <a:rPr sz="1650" b="1">
                          <a:solidFill>
                            <a:srgbClr val="FFFFFF"/>
                          </a:solidFill>
                          <a:latin typeface="Arial"/>
                          <a:ea typeface="Arial"/>
                          <a:cs typeface="Arial"/>
                        </a:rPr>
                        <a:t>Grid baseline</a:t>
                      </a:r>
                    </a:p>
                  </a:txBody>
                  <a:tcPr marL="91440" marR="91440" marT="45720" marB="45720">
                    <a:solidFill>
                      <a:srgbClr val="142D50"/>
                    </a:solidFill>
                  </a:tcPr>
                </a:tc>
                <a:tc>
                  <a:txBody>
                    <a:bodyPr/>
                    <a:lstStyle/>
                    <a:p>
                      <a:r>
                        <a:rPr sz="1650" b="1">
                          <a:solidFill>
                            <a:srgbClr val="FFFFFF"/>
                          </a:solidFill>
                          <a:latin typeface="Arial"/>
                          <a:ea typeface="Arial"/>
                          <a:cs typeface="Arial"/>
                        </a:rPr>
                        <a:t>Selected model</a:t>
                      </a:r>
                    </a:p>
                  </a:txBody>
                  <a:tcPr marL="91440" marR="91440" marT="45720" marB="45720">
                    <a:solidFill>
                      <a:srgbClr val="142D50"/>
                    </a:solidFill>
                  </a:tcPr>
                </a:tc>
              </a:tr>
              <a:tr h="666750">
                <a:tc>
                  <a:txBody>
                    <a:bodyPr/>
                    <a:lstStyle/>
                    <a:p>
                      <a:r>
                        <a:rPr sz="1575" b="0">
                          <a:solidFill>
                            <a:srgbClr val="142D50"/>
                          </a:solidFill>
                          <a:latin typeface="Arial"/>
                          <a:ea typeface="Arial"/>
                          <a:cs typeface="Arial"/>
                        </a:rPr>
                        <a:t>Log loss</a:t>
                      </a:r>
                    </a:p>
                  </a:txBody>
                  <a:tcPr marL="91440" marR="91440" marT="45720" marB="45720">
                    <a:solidFill>
                      <a:srgbClr val="FFFFFF"/>
                    </a:solidFill>
                  </a:tcPr>
                </a:tc>
                <a:tc>
                  <a:txBody>
                    <a:bodyPr/>
                    <a:lstStyle/>
                    <a:p>
                      <a:r>
                        <a:rPr sz="1575" b="0">
                          <a:solidFill>
                            <a:srgbClr val="142D50"/>
                          </a:solidFill>
                          <a:latin typeface="Arial"/>
                          <a:ea typeface="Arial"/>
                          <a:cs typeface="Arial"/>
                        </a:rPr>
                        <a:t>0.249898</a:t>
                      </a:r>
                    </a:p>
                  </a:txBody>
                  <a:tcPr marL="91440" marR="91440" marT="45720" marB="45720">
                    <a:solidFill>
                      <a:srgbClr val="FFFFFF"/>
                    </a:solidFill>
                  </a:tcPr>
                </a:tc>
                <a:tc>
                  <a:txBody>
                    <a:bodyPr/>
                    <a:lstStyle/>
                    <a:p>
                      <a:r>
                        <a:rPr sz="1575" b="0">
                          <a:solidFill>
                            <a:srgbClr val="142D50"/>
                          </a:solidFill>
                          <a:latin typeface="Arial"/>
                          <a:ea typeface="Arial"/>
                          <a:cs typeface="Arial"/>
                        </a:rPr>
                        <a:t>0.219846</a:t>
                      </a:r>
                    </a:p>
                  </a:txBody>
                  <a:tcPr marL="91440" marR="91440" marT="45720" marB="45720">
                    <a:solidFill>
                      <a:srgbClr val="FFFFFF"/>
                    </a:solidFill>
                  </a:tcPr>
                </a:tc>
              </a:tr>
              <a:tr h="666750">
                <a:tc>
                  <a:txBody>
                    <a:bodyPr/>
                    <a:lstStyle/>
                    <a:p>
                      <a:r>
                        <a:rPr sz="1575" b="0">
                          <a:solidFill>
                            <a:srgbClr val="142D50"/>
                          </a:solidFill>
                          <a:latin typeface="Arial"/>
                          <a:ea typeface="Arial"/>
                          <a:cs typeface="Arial"/>
                        </a:rPr>
                        <a:t>Brier score</a:t>
                      </a:r>
                    </a:p>
                  </a:txBody>
                  <a:tcPr marL="91440" marR="91440" marT="45720" marB="45720">
                    <a:solidFill>
                      <a:srgbClr val="E8F0FA"/>
                    </a:solidFill>
                  </a:tcPr>
                </a:tc>
                <a:tc>
                  <a:txBody>
                    <a:bodyPr/>
                    <a:lstStyle/>
                    <a:p>
                      <a:r>
                        <a:rPr sz="1575" b="0">
                          <a:solidFill>
                            <a:srgbClr val="142D50"/>
                          </a:solidFill>
                          <a:latin typeface="Arial"/>
                          <a:ea typeface="Arial"/>
                          <a:cs typeface="Arial"/>
                        </a:rPr>
                        <a:t>0.073811</a:t>
                      </a:r>
                    </a:p>
                  </a:txBody>
                  <a:tcPr marL="91440" marR="91440" marT="45720" marB="45720">
                    <a:solidFill>
                      <a:srgbClr val="E8F0FA"/>
                    </a:solidFill>
                  </a:tcPr>
                </a:tc>
                <a:tc>
                  <a:txBody>
                    <a:bodyPr/>
                    <a:lstStyle/>
                    <a:p>
                      <a:r>
                        <a:rPr sz="1575" b="0">
                          <a:solidFill>
                            <a:srgbClr val="142D50"/>
                          </a:solidFill>
                          <a:latin typeface="Arial"/>
                          <a:ea typeface="Arial"/>
                          <a:cs typeface="Arial"/>
                        </a:rPr>
                        <a:t>0.069285</a:t>
                      </a:r>
                    </a:p>
                  </a:txBody>
                  <a:tcPr marL="91440" marR="91440" marT="45720" marB="45720">
                    <a:solidFill>
                      <a:srgbClr val="E8F0FA"/>
                    </a:solidFill>
                  </a:tcPr>
                </a:tc>
              </a:tr>
              <a:tr h="666750">
                <a:tc>
                  <a:txBody>
                    <a:bodyPr/>
                    <a:lstStyle/>
                    <a:p>
                      <a:r>
                        <a:rPr sz="1575" b="0">
                          <a:solidFill>
                            <a:srgbClr val="142D50"/>
                          </a:solidFill>
                          <a:latin typeface="Arial"/>
                          <a:ea typeface="Arial"/>
                          <a:cs typeface="Arial"/>
                        </a:rPr>
                        <a:t>ROC-AUC</a:t>
                      </a:r>
                    </a:p>
                  </a:txBody>
                  <a:tcPr marL="91440" marR="91440" marT="45720" marB="45720">
                    <a:solidFill>
                      <a:srgbClr val="FFFFFF"/>
                    </a:solidFill>
                  </a:tcPr>
                </a:tc>
                <a:tc>
                  <a:txBody>
                    <a:bodyPr/>
                    <a:lstStyle/>
                    <a:p>
                      <a:r>
                        <a:rPr sz="1575" b="0">
                          <a:solidFill>
                            <a:srgbClr val="142D50"/>
                          </a:solidFill>
                          <a:latin typeface="Arial"/>
                          <a:ea typeface="Arial"/>
                          <a:cs typeface="Arial"/>
                        </a:rPr>
                        <a:t>0.913827</a:t>
                      </a:r>
                    </a:p>
                  </a:txBody>
                  <a:tcPr marL="91440" marR="91440" marT="45720" marB="45720">
                    <a:solidFill>
                      <a:srgbClr val="FFFFFF"/>
                    </a:solidFill>
                  </a:tcPr>
                </a:tc>
                <a:tc>
                  <a:txBody>
                    <a:bodyPr/>
                    <a:lstStyle/>
                    <a:p>
                      <a:r>
                        <a:rPr sz="1575" b="0">
                          <a:solidFill>
                            <a:srgbClr val="142D50"/>
                          </a:solidFill>
                          <a:latin typeface="Arial"/>
                          <a:ea typeface="Arial"/>
                          <a:cs typeface="Arial"/>
                        </a:rPr>
                        <a:t>0.935364</a:t>
                      </a:r>
                    </a:p>
                  </a:txBody>
                  <a:tcPr marL="91440" marR="91440" marT="45720" marB="45720">
                    <a:solidFill>
                      <a:srgbClr val="FFFFFF"/>
                    </a:solidFill>
                  </a:tcPr>
                </a:tc>
              </a:tr>
              <a:tr h="666750">
                <a:tc>
                  <a:txBody>
                    <a:bodyPr/>
                    <a:lstStyle/>
                    <a:p>
                      <a:r>
                        <a:rPr sz="1575" b="0">
                          <a:solidFill>
                            <a:srgbClr val="142D50"/>
                          </a:solidFill>
                          <a:latin typeface="Arial"/>
                          <a:ea typeface="Arial"/>
                          <a:cs typeface="Arial"/>
                        </a:rPr>
                        <a:t>Top-three hit rate</a:t>
                      </a:r>
                    </a:p>
                  </a:txBody>
                  <a:tcPr marL="91440" marR="91440" marT="45720" marB="45720">
                    <a:solidFill>
                      <a:srgbClr val="E8F0FA"/>
                    </a:solidFill>
                  </a:tcPr>
                </a:tc>
                <a:tc>
                  <a:txBody>
                    <a:bodyPr/>
                    <a:lstStyle/>
                    <a:p>
                      <a:r>
                        <a:rPr sz="1575" b="0">
                          <a:solidFill>
                            <a:srgbClr val="142D50"/>
                          </a:solidFill>
                          <a:latin typeface="Arial"/>
                          <a:ea typeface="Arial"/>
                          <a:cs typeface="Arial"/>
                        </a:rPr>
                        <a:t>0.651961</a:t>
                      </a:r>
                    </a:p>
                  </a:txBody>
                  <a:tcPr marL="91440" marR="91440" marT="45720" marB="45720">
                    <a:solidFill>
                      <a:srgbClr val="E8F0FA"/>
                    </a:solidFill>
                  </a:tcPr>
                </a:tc>
                <a:tc>
                  <a:txBody>
                    <a:bodyPr/>
                    <a:lstStyle/>
                    <a:p>
                      <a:r>
                        <a:rPr sz="1575" b="0">
                          <a:solidFill>
                            <a:srgbClr val="142D50"/>
                          </a:solidFill>
                          <a:latin typeface="Arial"/>
                          <a:ea typeface="Arial"/>
                          <a:cs typeface="Arial"/>
                        </a:rPr>
                        <a:t>0.647059</a:t>
                      </a:r>
                    </a:p>
                  </a:txBody>
                  <a:tcPr marL="91440" marR="91440" marT="45720" marB="45720">
                    <a:solidFill>
                      <a:srgbClr val="E8F0FA"/>
                    </a:solidFill>
                  </a:tcPr>
                </a:tc>
              </a:tr>
            </a:tbl>
          </a:graphicData>
        </a:graphic>
      </p:graphicFrame>
      <p:sp>
        <p:nvSpPr>
          <p:cNvPr id="4" name="">
            <a:extLst xmlns:a="http://schemas.openxmlformats.org/drawingml/2006/main">
              <a:ext uri="{FF2B5EF4-FFF2-40B4-BE49-F238E27FC236}">
                <a16:creationId xmlns:a16="http://schemas.microsoft.com/office/drawing/2014/main" id="{0B412C12-DE2A-4102-9E2C-FEC26C6AC3AC}"/>
              </a:ext>
            </a:extLst>
          </p:cNvPr>
          <p:cNvSpPr>
            <a:spLocks xmlns:a="http://schemas.openxmlformats.org/drawingml/2006/main" noGrp="1"/>
          </p:cNvSpPr>
          <p:nvPr/>
        </p:nvSpPr>
        <p:spPr>
          <a:xfrm xmlns:a="http://schemas.openxmlformats.org/drawingml/2006/main">
            <a:off x="609600" y="52197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834A"/>
                </a:solidFill>
                <a:latin typeface="Arial"/>
                <a:ea typeface="Arial"/>
                <a:cs typeface="Arial"/>
              </a:defRPr>
            </a:pPr>
            <a:r>
              <a:rPr sz="2475" b="1">
                <a:solidFill>
                  <a:srgbClr val="17834A"/>
                </a:solidFill>
                <a:latin typeface="Arial"/>
                <a:ea typeface="Arial"/>
                <a:cs typeface="Arial"/>
              </a:rPr>
              <a:t>Probability quality improved</a:t>
            </a:r>
          </a:p>
        </p:txBody>
      </p:sp>
      <p:sp>
        <p:nvSpPr>
          <p:cNvPr id="5" name="">
            <a:extLst xmlns:a="http://schemas.openxmlformats.org/drawingml/2006/main">
              <a:ext uri="{FF2B5EF4-FFF2-40B4-BE49-F238E27FC236}">
                <a16:creationId xmlns:a16="http://schemas.microsoft.com/office/drawing/2014/main" id="{D6FBF3B0-C0C9-4772-B3C9-688F16DA6412}"/>
              </a:ext>
            </a:extLst>
          </p:cNvPr>
          <p:cNvSpPr>
            <a:spLocks xmlns:a="http://schemas.openxmlformats.org/drawingml/2006/main" noGrp="1"/>
          </p:cNvSpPr>
          <p:nvPr/>
        </p:nvSpPr>
        <p:spPr>
          <a:xfrm xmlns:a="http://schemas.openxmlformats.org/drawingml/2006/main">
            <a:off x="6191250" y="5219700"/>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34D1B"/>
                </a:solidFill>
                <a:latin typeface="Arial"/>
                <a:ea typeface="Arial"/>
                <a:cs typeface="Arial"/>
              </a:defRPr>
            </a:pPr>
            <a:r>
              <a:rPr sz="2325" b="1">
                <a:solidFill>
                  <a:srgbClr val="A34D1B"/>
                </a:solidFill>
                <a:latin typeface="Arial"/>
                <a:ea typeface="Arial"/>
                <a:cs typeface="Arial"/>
              </a:rPr>
              <a:t>Top-three selection did not improve</a:t>
            </a:r>
          </a:p>
        </p:txBody>
      </p:sp>
      <p:sp>
        <p:nvSpPr>
          <p:cNvPr id="6" name="">
            <a:extLst xmlns:a="http://schemas.openxmlformats.org/drawingml/2006/main">
              <a:ext uri="{FF2B5EF4-FFF2-40B4-BE49-F238E27FC236}">
                <a16:creationId xmlns:a16="http://schemas.microsoft.com/office/drawing/2014/main" id="{FB3364FE-E3DE-4734-A92A-015284F45206}"/>
              </a:ext>
            </a:extLst>
          </p:cNvPr>
          <p:cNvSpPr>
            <a:spLocks xmlns:a="http://schemas.openxmlformats.org/drawingml/2006/main" noGrp="1"/>
          </p:cNvSpPr>
          <p:nvPr/>
        </p:nvSpPr>
        <p:spPr>
          <a:xfrm xmlns:a="http://schemas.openxmlformats.org/drawingml/2006/main">
            <a:off x="609600" y="59436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SHAP factors reconstruct calibrated log-odds and describe associations, not causes.</a:t>
            </a:r>
          </a:p>
        </p:txBody>
      </p:sp>
    </p:spTree>
    <p:extLst>
      <p:ext uri="{BB962C8B-B14F-4D97-AF65-F5344CB8AC3E}">
        <p14:creationId xmlns:p14="http://schemas.microsoft.com/office/powerpoint/2010/main" val="183576289"/>
      </p:ext>
    </p:extLst>
  </p:cSld>
</p:sld>
</file>

<file path=ppt/slides/slide11.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9AD4B6-F41D-499E-BFF9-1D01EA9DF81B}"/>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Live Bedrock evaluation</a:t>
            </a:r>
          </a:p>
        </p:txBody>
      </p:sp>
      <p:sp>
        <p:nvSpPr>
          <p:cNvPr id="2" name="">
            <a:extLst xmlns:a="http://schemas.openxmlformats.org/drawingml/2006/main">
              <a:ext uri="{FF2B5EF4-FFF2-40B4-BE49-F238E27FC236}">
                <a16:creationId xmlns:a16="http://schemas.microsoft.com/office/drawing/2014/main" id="{24CDF4F6-9CDC-48D9-931B-04611E287498}"/>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graphicFrame>
        <p:nvGraphicFramePr>
          <p:cNvPr id="11" name="Chart"/>
          <p:cNvGraphicFramePr/>
          <p:nvPr/>
        </p:nvGraphicFramePr>
        <p:xfrm>
          <a:off xmlns:a="http://schemas.openxmlformats.org/drawingml/2006/main" x="609600" y="1562100"/>
          <a:ext xmlns:a="http://schemas.openxmlformats.org/drawingml/2006/main" cx="7715250" cy="3714750"/>
        </p:xfrm>
        <a:graphic xmlns:a="http://schemas.openxmlformats.org/drawingml/2006/main">
          <a:graphicData uri="http://schemas.openxmlformats.org/drawingml/2006/chart">
            <c:chart xmlns:r="http://schemas.openxmlformats.org/officeDocument/2006/relationships" xmlns:c="http://schemas.openxmlformats.org/drawingml/2006/chart" r:id="R2c8d777ea03449d4"/>
          </a:graphicData>
        </a:graphic>
      </p:graphicFrame>
      <p:sp>
        <p:nvSpPr>
          <p:cNvPr id="4" name="">
            <a:extLst xmlns:a="http://schemas.openxmlformats.org/drawingml/2006/main">
              <a:ext uri="{FF2B5EF4-FFF2-40B4-BE49-F238E27FC236}">
                <a16:creationId xmlns:a16="http://schemas.microsoft.com/office/drawing/2014/main" id="{517B60D4-15EC-42E7-86A5-B2DAC3BE31A6}"/>
              </a:ext>
            </a:extLst>
          </p:cNvPr>
          <p:cNvSpPr>
            <a:spLocks xmlns:a="http://schemas.openxmlformats.org/drawingml/2006/main" noGrp="1"/>
          </p:cNvSpPr>
          <p:nvPr/>
        </p:nvSpPr>
        <p:spPr>
          <a:xfrm xmlns:a="http://schemas.openxmlformats.org/drawingml/2006/main">
            <a:off x="8782050" y="1771650"/>
            <a:ext cx="257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7834A"/>
                </a:solidFill>
                <a:latin typeface="Arial"/>
                <a:ea typeface="Arial"/>
                <a:cs typeface="Arial"/>
              </a:defRPr>
            </a:pPr>
            <a:r>
              <a:rPr sz="4050" b="1">
                <a:solidFill>
                  <a:srgbClr val="17834A"/>
                </a:solidFill>
                <a:latin typeface="Arial"/>
                <a:ea typeface="Arial"/>
                <a:cs typeface="Arial"/>
              </a:rPr>
              <a:t>22 / 22</a:t>
            </a:r>
          </a:p>
        </p:txBody>
      </p:sp>
      <p:sp>
        <p:nvSpPr>
          <p:cNvPr id="5" name="">
            <a:extLst xmlns:a="http://schemas.openxmlformats.org/drawingml/2006/main">
              <a:ext uri="{FF2B5EF4-FFF2-40B4-BE49-F238E27FC236}">
                <a16:creationId xmlns:a16="http://schemas.microsoft.com/office/drawing/2014/main" id="{466D86F8-2D41-427B-A47F-424A44C833BE}"/>
              </a:ext>
            </a:extLst>
          </p:cNvPr>
          <p:cNvSpPr>
            <a:spLocks xmlns:a="http://schemas.openxmlformats.org/drawingml/2006/main" noGrp="1"/>
          </p:cNvSpPr>
          <p:nvPr/>
        </p:nvSpPr>
        <p:spPr>
          <a:xfrm xmlns:a="http://schemas.openxmlformats.org/drawingml/2006/main">
            <a:off x="8782050" y="2514600"/>
            <a:ext cx="257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Agentic Run 01</a:t>
            </a:r>
          </a:p>
        </p:txBody>
      </p:sp>
      <p:sp>
        <p:nvSpPr>
          <p:cNvPr id="6" name="">
            <a:extLst xmlns:a="http://schemas.openxmlformats.org/drawingml/2006/main">
              <a:ext uri="{FF2B5EF4-FFF2-40B4-BE49-F238E27FC236}">
                <a16:creationId xmlns:a16="http://schemas.microsoft.com/office/drawing/2014/main" id="{D2780B22-42EA-451E-9931-8F2D694787A3}"/>
              </a:ext>
            </a:extLst>
          </p:cNvPr>
          <p:cNvSpPr>
            <a:spLocks xmlns:a="http://schemas.openxmlformats.org/drawingml/2006/main" noGrp="1"/>
          </p:cNvSpPr>
          <p:nvPr/>
        </p:nvSpPr>
        <p:spPr>
          <a:xfrm xmlns:a="http://schemas.openxmlformats.org/drawingml/2006/main">
            <a:off x="8782050" y="3143250"/>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14 statistics</a:t>
            </a:r>
          </a:p>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7 safe clarify/refuse</a:t>
            </a:r>
          </a:p>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1 race explanation</a:t>
            </a:r>
          </a:p>
        </p:txBody>
      </p:sp>
      <p:sp>
        <p:nvSpPr>
          <p:cNvPr id="7" name="">
            <a:extLst xmlns:a="http://schemas.openxmlformats.org/drawingml/2006/main">
              <a:ext uri="{FF2B5EF4-FFF2-40B4-BE49-F238E27FC236}">
                <a16:creationId xmlns:a16="http://schemas.microsoft.com/office/drawing/2014/main" id="{ABEAB8BD-921F-4311-9346-EA58C5503548}"/>
              </a:ext>
            </a:extLst>
          </p:cNvPr>
          <p:cNvSpPr>
            <a:spLocks xmlns:a="http://schemas.openxmlformats.org/drawingml/2006/main" noGrp="1"/>
          </p:cNvSpPr>
          <p:nvPr/>
        </p:nvSpPr>
        <p:spPr>
          <a:xfrm xmlns:a="http://schemas.openxmlformats.org/drawingml/2006/main">
            <a:off x="8782050" y="4629150"/>
            <a:ext cx="257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3.013 s mean latency</a:t>
            </a:r>
          </a:p>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29 total Bedrock calls</a:t>
            </a:r>
          </a:p>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0 live repairs</a:t>
            </a:r>
          </a:p>
        </p:txBody>
      </p:sp>
      <p:sp>
        <p:nvSpPr>
          <p:cNvPr id="8" name="">
            <a:extLst xmlns:a="http://schemas.openxmlformats.org/drawingml/2006/main">
              <a:ext uri="{FF2B5EF4-FFF2-40B4-BE49-F238E27FC236}">
                <a16:creationId xmlns:a16="http://schemas.microsoft.com/office/drawing/2014/main" id="{A11F1AED-07F9-4344-BDB4-6E3CE08A5126}"/>
              </a:ext>
            </a:extLst>
          </p:cNvPr>
          <p:cNvSpPr>
            <a:spLocks xmlns:a="http://schemas.openxmlformats.org/drawingml/2006/main" noGrp="1"/>
          </p:cNvSpPr>
          <p:nvPr/>
        </p:nvSpPr>
        <p:spPr>
          <a:xfrm xmlns:a="http://schemas.openxmlformats.org/drawingml/2006/main">
            <a:off x="609600" y="57721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Run 09: 40/40 at 3.651 s mean latency, about 8.5% faster than Run 06 in that execution.</a:t>
            </a:r>
          </a:p>
        </p:txBody>
      </p:sp>
    </p:spTree>
    <p:extLst>
      <p:ext uri="{BB962C8B-B14F-4D97-AF65-F5344CB8AC3E}">
        <p14:creationId xmlns:p14="http://schemas.microsoft.com/office/powerpoint/2010/main" val="180456750"/>
      </p:ext>
    </p:extLst>
  </p:cSld>
</p:sld>
</file>

<file path=ppt/slides/slide1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3F832D-54BB-46C2-AFF4-D6D0D92A91D6}"/>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Engineering quality gates</a:t>
            </a:r>
          </a:p>
        </p:txBody>
      </p:sp>
      <p:sp>
        <p:nvSpPr>
          <p:cNvPr id="2" name="">
            <a:extLst xmlns:a="http://schemas.openxmlformats.org/drawingml/2006/main">
              <a:ext uri="{FF2B5EF4-FFF2-40B4-BE49-F238E27FC236}">
                <a16:creationId xmlns:a16="http://schemas.microsoft.com/office/drawing/2014/main" id="{A7A2D9C3-A1AB-4BBA-8451-BFC02DDAB77E}"/>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cfc795a3dcf4251"/>
          <a:stretch xmlns:a="http://schemas.openxmlformats.org/drawingml/2006/main"/>
        </p:blipFill>
        <p:spPr>
          <a:xfrm xmlns:a="http://schemas.openxmlformats.org/drawingml/2006/main">
            <a:off x="1346454" y="1409700"/>
            <a:ext cx="6336792" cy="440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21D378-E32F-4F24-B8D3-A2D9A3CE5731}"/>
              </a:ext>
            </a:extLst>
          </p:cNvPr>
          <p:cNvSpPr>
            <a:spLocks xmlns:a="http://schemas.openxmlformats.org/drawingml/2006/main" noGrp="1"/>
          </p:cNvSpPr>
          <p:nvPr/>
        </p:nvSpPr>
        <p:spPr>
          <a:xfrm xmlns:a="http://schemas.openxmlformats.org/drawingml/2006/main">
            <a:off x="8858250" y="16573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113</a:t>
            </a:r>
          </a:p>
        </p:txBody>
      </p:sp>
      <p:sp>
        <p:nvSpPr>
          <p:cNvPr id="5" name="">
            <a:extLst xmlns:a="http://schemas.openxmlformats.org/drawingml/2006/main">
              <a:ext uri="{FF2B5EF4-FFF2-40B4-BE49-F238E27FC236}">
                <a16:creationId xmlns:a16="http://schemas.microsoft.com/office/drawing/2014/main" id="{A8E6FE6D-F5A8-4961-A98A-CBAE15DD3DF4}"/>
              </a:ext>
            </a:extLst>
          </p:cNvPr>
          <p:cNvSpPr>
            <a:spLocks xmlns:a="http://schemas.openxmlformats.org/drawingml/2006/main" noGrp="1"/>
          </p:cNvSpPr>
          <p:nvPr/>
        </p:nvSpPr>
        <p:spPr>
          <a:xfrm xmlns:a="http://schemas.openxmlformats.org/drawingml/2006/main">
            <a:off x="8858250" y="240030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Python tests</a:t>
            </a:r>
          </a:p>
        </p:txBody>
      </p:sp>
      <p:sp>
        <p:nvSpPr>
          <p:cNvPr id="6" name="">
            <a:extLst xmlns:a="http://schemas.openxmlformats.org/drawingml/2006/main">
              <a:ext uri="{FF2B5EF4-FFF2-40B4-BE49-F238E27FC236}">
                <a16:creationId xmlns:a16="http://schemas.microsoft.com/office/drawing/2014/main" id="{2EAE418D-7783-49E2-8DAD-E421FB61519F}"/>
              </a:ext>
            </a:extLst>
          </p:cNvPr>
          <p:cNvSpPr>
            <a:spLocks xmlns:a="http://schemas.openxmlformats.org/drawingml/2006/main" noGrp="1"/>
          </p:cNvSpPr>
          <p:nvPr/>
        </p:nvSpPr>
        <p:spPr>
          <a:xfrm xmlns:a="http://schemas.openxmlformats.org/drawingml/2006/main">
            <a:off x="8858250" y="316230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3C3BFC21-F443-413B-BFC7-7084D58A6052}"/>
              </a:ext>
            </a:extLst>
          </p:cNvPr>
          <p:cNvSpPr>
            <a:spLocks xmlns:a="http://schemas.openxmlformats.org/drawingml/2006/main" noGrp="1"/>
          </p:cNvSpPr>
          <p:nvPr/>
        </p:nvSpPr>
        <p:spPr>
          <a:xfrm xmlns:a="http://schemas.openxmlformats.org/drawingml/2006/main">
            <a:off x="8858250" y="39052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frontend tests</a:t>
            </a:r>
          </a:p>
        </p:txBody>
      </p:sp>
      <p:sp>
        <p:nvSpPr>
          <p:cNvPr id="8" name="">
            <a:extLst xmlns:a="http://schemas.openxmlformats.org/drawingml/2006/main">
              <a:ext uri="{FF2B5EF4-FFF2-40B4-BE49-F238E27FC236}">
                <a16:creationId xmlns:a16="http://schemas.microsoft.com/office/drawing/2014/main" id="{3B519DC9-91E5-409C-9845-7C91AC02F106}"/>
              </a:ext>
            </a:extLst>
          </p:cNvPr>
          <p:cNvSpPr>
            <a:spLocks xmlns:a="http://schemas.openxmlformats.org/drawingml/2006/main" noGrp="1"/>
          </p:cNvSpPr>
          <p:nvPr/>
        </p:nvSpPr>
        <p:spPr>
          <a:xfrm xmlns:a="http://schemas.openxmlformats.org/drawingml/2006/main">
            <a:off x="8858250" y="46672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7834A"/>
                </a:solidFill>
                <a:latin typeface="Arial"/>
                <a:ea typeface="Arial"/>
                <a:cs typeface="Arial"/>
              </a:defRPr>
            </a:pPr>
            <a:r>
              <a:rPr sz="4050" b="1">
                <a:solidFill>
                  <a:srgbClr val="17834A"/>
                </a:solidFill>
                <a:latin typeface="Arial"/>
                <a:ea typeface="Arial"/>
                <a:cs typeface="Arial"/>
              </a:rPr>
              <a:t>4 / 4</a:t>
            </a:r>
          </a:p>
        </p:txBody>
      </p:sp>
      <p:sp>
        <p:nvSpPr>
          <p:cNvPr id="9" name="">
            <a:extLst xmlns:a="http://schemas.openxmlformats.org/drawingml/2006/main">
              <a:ext uri="{FF2B5EF4-FFF2-40B4-BE49-F238E27FC236}">
                <a16:creationId xmlns:a16="http://schemas.microsoft.com/office/drawing/2014/main" id="{314B7FA4-A5CF-4A80-9966-6693BDFC167C}"/>
              </a:ext>
            </a:extLst>
          </p:cNvPr>
          <p:cNvSpPr>
            <a:spLocks xmlns:a="http://schemas.openxmlformats.org/drawingml/2006/main" noGrp="1"/>
          </p:cNvSpPr>
          <p:nvPr/>
        </p:nvSpPr>
        <p:spPr>
          <a:xfrm xmlns:a="http://schemas.openxmlformats.org/drawingml/2006/main">
            <a:off x="8858250" y="541020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PostgreSQL checks</a:t>
            </a:r>
          </a:p>
        </p:txBody>
      </p:sp>
      <p:sp>
        <p:nvSpPr>
          <p:cNvPr id="10" name="">
            <a:extLst xmlns:a="http://schemas.openxmlformats.org/drawingml/2006/main">
              <a:ext uri="{FF2B5EF4-FFF2-40B4-BE49-F238E27FC236}">
                <a16:creationId xmlns:a16="http://schemas.microsoft.com/office/drawing/2014/main" id="{55C0A7C4-7144-4FD2-88A6-FB2364C70F56}"/>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1677F"/>
                </a:solidFill>
                <a:latin typeface="Arial"/>
                <a:ea typeface="Arial"/>
                <a:cs typeface="Arial"/>
              </a:defRPr>
            </a:pPr>
            <a:r>
              <a:rPr sz="1725" b="0">
                <a:solidFill>
                  <a:srgbClr val="51677F"/>
                </a:solidFill>
                <a:latin typeface="Arial"/>
                <a:ea typeface="Arial"/>
                <a:cs typeface="Arial"/>
              </a:rPr>
              <a:t>Ruff, ESLint, Prettier, Vite and both Terraform roots passed.</a:t>
            </a:r>
          </a:p>
        </p:txBody>
      </p:sp>
    </p:spTree>
    <p:extLst>
      <p:ext uri="{BB962C8B-B14F-4D97-AF65-F5344CB8AC3E}">
        <p14:creationId xmlns:p14="http://schemas.microsoft.com/office/powerpoint/2010/main" val="1274286486"/>
      </p:ext>
    </p:extLst>
  </p:cSld>
</p:sld>
</file>

<file path=ppt/slides/slide1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9D4FF4E-93B8-43FC-BB58-3A0246A2766A}"/>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Verified AWS release</a:t>
            </a:r>
          </a:p>
        </p:txBody>
      </p:sp>
      <p:sp>
        <p:nvSpPr>
          <p:cNvPr id="2" name="">
            <a:extLst xmlns:a="http://schemas.openxmlformats.org/drawingml/2006/main">
              <a:ext uri="{FF2B5EF4-FFF2-40B4-BE49-F238E27FC236}">
                <a16:creationId xmlns:a16="http://schemas.microsoft.com/office/drawing/2014/main" id="{92F8CFAE-B0BC-4421-A5C3-EF6F03E35DD2}"/>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E4C25A84-7B67-4642-B1EB-CDBBFBE05852}"/>
              </a:ext>
            </a:extLst>
          </p:cNvPr>
          <p:cNvSpPr>
            <a:spLocks xmlns:a="http://schemas.openxmlformats.org/drawingml/2006/main" noGrp="1"/>
          </p:cNvSpPr>
          <p:nvPr/>
        </p:nvSpPr>
        <p:spPr>
          <a:xfrm xmlns:a="http://schemas.openxmlformats.org/drawingml/2006/main">
            <a:off x="609600" y="1581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DFFFDBD-9253-4DF1-AF1D-B0935108745F}"/>
              </a:ext>
            </a:extLst>
          </p:cNvPr>
          <p:cNvSpPr>
            <a:spLocks xmlns:a="http://schemas.openxmlformats.org/drawingml/2006/main" noGrp="1"/>
          </p:cNvSpPr>
          <p:nvPr/>
        </p:nvSpPr>
        <p:spPr>
          <a:xfrm xmlns:a="http://schemas.openxmlformats.org/drawingml/2006/main">
            <a:off x="609600" y="21145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D50"/>
                </a:solidFill>
                <a:latin typeface="Arial"/>
                <a:ea typeface="Arial"/>
                <a:cs typeface="Arial"/>
              </a:defRPr>
            </a:pPr>
            <a:r>
              <a:rPr sz="2100" b="1">
                <a:solidFill>
                  <a:srgbClr val="142D50"/>
                </a:solidFill>
                <a:latin typeface="Arial"/>
                <a:ea typeface="Arial"/>
                <a:cs typeface="Arial"/>
              </a:rPr>
              <a:t>GitHub</a:t>
            </a:r>
          </a:p>
        </p:txBody>
      </p:sp>
      <p:sp>
        <p:nvSpPr>
          <p:cNvPr id="5" name="">
            <a:extLst xmlns:a="http://schemas.openxmlformats.org/drawingml/2006/main">
              <a:ext uri="{FF2B5EF4-FFF2-40B4-BE49-F238E27FC236}">
                <a16:creationId xmlns:a16="http://schemas.microsoft.com/office/drawing/2014/main" id="{EF712605-0F1B-49CB-9226-2DA8DFE2A688}"/>
              </a:ext>
            </a:extLst>
          </p:cNvPr>
          <p:cNvSpPr>
            <a:spLocks xmlns:a="http://schemas.openxmlformats.org/drawingml/2006/main" noGrp="1"/>
          </p:cNvSpPr>
          <p:nvPr/>
        </p:nvSpPr>
        <p:spPr>
          <a:xfrm xmlns:a="http://schemas.openxmlformats.org/drawingml/2006/main">
            <a:off x="609600" y="26670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Run 34456776706</a:t>
            </a:r>
          </a:p>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passed</a:t>
            </a:r>
          </a:p>
        </p:txBody>
      </p:sp>
      <p:sp>
        <p:nvSpPr>
          <p:cNvPr id="6" name="">
            <a:extLst xmlns:a="http://schemas.openxmlformats.org/drawingml/2006/main">
              <a:ext uri="{FF2B5EF4-FFF2-40B4-BE49-F238E27FC236}">
                <a16:creationId xmlns:a16="http://schemas.microsoft.com/office/drawing/2014/main" id="{DCC740D0-435B-49EF-996C-42A291CBEF10}"/>
              </a:ext>
            </a:extLst>
          </p:cNvPr>
          <p:cNvSpPr>
            <a:spLocks xmlns:a="http://schemas.openxmlformats.org/drawingml/2006/main" noGrp="1"/>
          </p:cNvSpPr>
          <p:nvPr/>
        </p:nvSpPr>
        <p:spPr>
          <a:xfrm xmlns:a="http://schemas.openxmlformats.org/drawingml/2006/main">
            <a:off x="2352675" y="2324100"/>
            <a:ext cx="323850" cy="19050"/>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7" name="">
            <a:extLst xmlns:a="http://schemas.openxmlformats.org/drawingml/2006/main">
              <a:ext uri="{FF2B5EF4-FFF2-40B4-BE49-F238E27FC236}">
                <a16:creationId xmlns:a16="http://schemas.microsoft.com/office/drawing/2014/main" id="{3199D182-7D6E-4D58-AA97-FD5CE72153BA}"/>
              </a:ext>
            </a:extLst>
          </p:cNvPr>
          <p:cNvSpPr>
            <a:spLocks xmlns:a="http://schemas.openxmlformats.org/drawingml/2006/main" noGrp="1"/>
          </p:cNvSpPr>
          <p:nvPr/>
        </p:nvSpPr>
        <p:spPr>
          <a:xfrm xmlns:a="http://schemas.openxmlformats.org/drawingml/2006/main">
            <a:off x="2800350" y="1581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BEC8C45-00D0-469E-88F0-E6C0AB8D8048}"/>
              </a:ext>
            </a:extLst>
          </p:cNvPr>
          <p:cNvSpPr>
            <a:spLocks xmlns:a="http://schemas.openxmlformats.org/drawingml/2006/main" noGrp="1"/>
          </p:cNvSpPr>
          <p:nvPr/>
        </p:nvSpPr>
        <p:spPr>
          <a:xfrm xmlns:a="http://schemas.openxmlformats.org/drawingml/2006/main">
            <a:off x="2800350" y="21145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D50"/>
                </a:solidFill>
                <a:latin typeface="Arial"/>
                <a:ea typeface="Arial"/>
                <a:cs typeface="Arial"/>
              </a:defRPr>
            </a:pPr>
            <a:r>
              <a:rPr sz="2100" b="1">
                <a:solidFill>
                  <a:srgbClr val="142D50"/>
                </a:solidFill>
                <a:latin typeface="Arial"/>
                <a:ea typeface="Arial"/>
                <a:cs typeface="Arial"/>
              </a:rPr>
              <a:t>CodeBuild</a:t>
            </a:r>
          </a:p>
        </p:txBody>
      </p:sp>
      <p:sp>
        <p:nvSpPr>
          <p:cNvPr id="9" name="">
            <a:extLst xmlns:a="http://schemas.openxmlformats.org/drawingml/2006/main">
              <a:ext uri="{FF2B5EF4-FFF2-40B4-BE49-F238E27FC236}">
                <a16:creationId xmlns:a16="http://schemas.microsoft.com/office/drawing/2014/main" id="{437762D4-05EF-40C7-A527-BED77F541F19}"/>
              </a:ext>
            </a:extLst>
          </p:cNvPr>
          <p:cNvSpPr>
            <a:spLocks xmlns:a="http://schemas.openxmlformats.org/drawingml/2006/main" noGrp="1"/>
          </p:cNvSpPr>
          <p:nvPr/>
        </p:nvSpPr>
        <p:spPr>
          <a:xfrm xmlns:a="http://schemas.openxmlformats.org/drawingml/2006/main">
            <a:off x="2800350" y="26670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cce52796…</a:t>
            </a:r>
          </a:p>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FC55691F-3713-4091-9925-A9D292C1D774}"/>
              </a:ext>
            </a:extLst>
          </p:cNvPr>
          <p:cNvSpPr>
            <a:spLocks xmlns:a="http://schemas.openxmlformats.org/drawingml/2006/main" noGrp="1"/>
          </p:cNvSpPr>
          <p:nvPr/>
        </p:nvSpPr>
        <p:spPr>
          <a:xfrm xmlns:a="http://schemas.openxmlformats.org/drawingml/2006/main">
            <a:off x="4543425" y="2324100"/>
            <a:ext cx="323850" cy="19050"/>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1" name="">
            <a:extLst xmlns:a="http://schemas.openxmlformats.org/drawingml/2006/main">
              <a:ext uri="{FF2B5EF4-FFF2-40B4-BE49-F238E27FC236}">
                <a16:creationId xmlns:a16="http://schemas.microsoft.com/office/drawing/2014/main" id="{596747E5-9694-43A9-984D-3D05518906DB}"/>
              </a:ext>
            </a:extLst>
          </p:cNvPr>
          <p:cNvSpPr>
            <a:spLocks xmlns:a="http://schemas.openxmlformats.org/drawingml/2006/main" noGrp="1"/>
          </p:cNvSpPr>
          <p:nvPr/>
        </p:nvSpPr>
        <p:spPr>
          <a:xfrm xmlns:a="http://schemas.openxmlformats.org/drawingml/2006/main">
            <a:off x="4991100" y="1581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5ED1D8E4-FA37-43DD-B7D4-0ECA307ABC7A}"/>
              </a:ext>
            </a:extLst>
          </p:cNvPr>
          <p:cNvSpPr>
            <a:spLocks xmlns:a="http://schemas.openxmlformats.org/drawingml/2006/main" noGrp="1"/>
          </p:cNvSpPr>
          <p:nvPr/>
        </p:nvSpPr>
        <p:spPr>
          <a:xfrm xmlns:a="http://schemas.openxmlformats.org/drawingml/2006/main">
            <a:off x="4991100" y="21145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D50"/>
                </a:solidFill>
                <a:latin typeface="Arial"/>
                <a:ea typeface="Arial"/>
                <a:cs typeface="Arial"/>
              </a:defRPr>
            </a:pPr>
            <a:r>
              <a:rPr sz="2100" b="1">
                <a:solidFill>
                  <a:srgbClr val="142D50"/>
                </a:solidFill>
                <a:latin typeface="Arial"/>
                <a:ea typeface="Arial"/>
                <a:cs typeface="Arial"/>
              </a:rPr>
              <a:t>ECR</a:t>
            </a:r>
          </a:p>
        </p:txBody>
      </p:sp>
      <p:sp>
        <p:nvSpPr>
          <p:cNvPr id="13" name="">
            <a:extLst xmlns:a="http://schemas.openxmlformats.org/drawingml/2006/main">
              <a:ext uri="{FF2B5EF4-FFF2-40B4-BE49-F238E27FC236}">
                <a16:creationId xmlns:a16="http://schemas.microsoft.com/office/drawing/2014/main" id="{8726B348-33A2-4567-B971-97199BDDFA29}"/>
              </a:ext>
            </a:extLst>
          </p:cNvPr>
          <p:cNvSpPr>
            <a:spLocks xmlns:a="http://schemas.openxmlformats.org/drawingml/2006/main" noGrp="1"/>
          </p:cNvSpPr>
          <p:nvPr/>
        </p:nvSpPr>
        <p:spPr>
          <a:xfrm xmlns:a="http://schemas.openxmlformats.org/drawingml/2006/main">
            <a:off x="4991100" y="26670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Immutable tag</a:t>
            </a:r>
          </a:p>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4b394645…</a:t>
            </a:r>
          </a:p>
        </p:txBody>
      </p:sp>
      <p:sp>
        <p:nvSpPr>
          <p:cNvPr id="14" name="">
            <a:extLst xmlns:a="http://schemas.openxmlformats.org/drawingml/2006/main">
              <a:ext uri="{FF2B5EF4-FFF2-40B4-BE49-F238E27FC236}">
                <a16:creationId xmlns:a16="http://schemas.microsoft.com/office/drawing/2014/main" id="{CB6AA7AB-BA40-4B67-B706-A046ECD03041}"/>
              </a:ext>
            </a:extLst>
          </p:cNvPr>
          <p:cNvSpPr>
            <a:spLocks xmlns:a="http://schemas.openxmlformats.org/drawingml/2006/main" noGrp="1"/>
          </p:cNvSpPr>
          <p:nvPr/>
        </p:nvSpPr>
        <p:spPr>
          <a:xfrm xmlns:a="http://schemas.openxmlformats.org/drawingml/2006/main">
            <a:off x="6734175" y="2324100"/>
            <a:ext cx="323850" cy="19050"/>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5" name="">
            <a:extLst xmlns:a="http://schemas.openxmlformats.org/drawingml/2006/main">
              <a:ext uri="{FF2B5EF4-FFF2-40B4-BE49-F238E27FC236}">
                <a16:creationId xmlns:a16="http://schemas.microsoft.com/office/drawing/2014/main" id="{AF76FBA5-DFA5-4F92-856A-4AA0E80F21AE}"/>
              </a:ext>
            </a:extLst>
          </p:cNvPr>
          <p:cNvSpPr>
            <a:spLocks xmlns:a="http://schemas.openxmlformats.org/drawingml/2006/main" noGrp="1"/>
          </p:cNvSpPr>
          <p:nvPr/>
        </p:nvSpPr>
        <p:spPr>
          <a:xfrm xmlns:a="http://schemas.openxmlformats.org/drawingml/2006/main">
            <a:off x="7181850" y="1581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8F716C2C-9338-455C-AB29-C5E95A0EA89E}"/>
              </a:ext>
            </a:extLst>
          </p:cNvPr>
          <p:cNvSpPr>
            <a:spLocks xmlns:a="http://schemas.openxmlformats.org/drawingml/2006/main" noGrp="1"/>
          </p:cNvSpPr>
          <p:nvPr/>
        </p:nvSpPr>
        <p:spPr>
          <a:xfrm xmlns:a="http://schemas.openxmlformats.org/drawingml/2006/main">
            <a:off x="7181850" y="21145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D50"/>
                </a:solidFill>
                <a:latin typeface="Arial"/>
                <a:ea typeface="Arial"/>
                <a:cs typeface="Arial"/>
              </a:defRPr>
            </a:pPr>
            <a:r>
              <a:rPr sz="2100" b="1">
                <a:solidFill>
                  <a:srgbClr val="142D50"/>
                </a:solidFill>
                <a:latin typeface="Arial"/>
                <a:ea typeface="Arial"/>
                <a:cs typeface="Arial"/>
              </a:rPr>
              <a:t>Lightsail</a:t>
            </a:r>
          </a:p>
        </p:txBody>
      </p:sp>
      <p:sp>
        <p:nvSpPr>
          <p:cNvPr id="17" name="">
            <a:extLst xmlns:a="http://schemas.openxmlformats.org/drawingml/2006/main">
              <a:ext uri="{FF2B5EF4-FFF2-40B4-BE49-F238E27FC236}">
                <a16:creationId xmlns:a16="http://schemas.microsoft.com/office/drawing/2014/main" id="{90D43B73-3885-4C42-BC5B-E47D06C96944}"/>
              </a:ext>
            </a:extLst>
          </p:cNvPr>
          <p:cNvSpPr>
            <a:spLocks xmlns:a="http://schemas.openxmlformats.org/drawingml/2006/main" noGrp="1"/>
          </p:cNvSpPr>
          <p:nvPr/>
        </p:nvSpPr>
        <p:spPr>
          <a:xfrm xmlns:a="http://schemas.openxmlformats.org/drawingml/2006/main">
            <a:off x="7181850" y="26670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Deployment 9</a:t>
            </a:r>
          </a:p>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active</a:t>
            </a:r>
          </a:p>
        </p:txBody>
      </p:sp>
      <p:sp>
        <p:nvSpPr>
          <p:cNvPr id="18" name="">
            <a:extLst xmlns:a="http://schemas.openxmlformats.org/drawingml/2006/main">
              <a:ext uri="{FF2B5EF4-FFF2-40B4-BE49-F238E27FC236}">
                <a16:creationId xmlns:a16="http://schemas.microsoft.com/office/drawing/2014/main" id="{3CEB1DF1-5597-4C77-A2A4-D0EDE5FF13EC}"/>
              </a:ext>
            </a:extLst>
          </p:cNvPr>
          <p:cNvSpPr>
            <a:spLocks xmlns:a="http://schemas.openxmlformats.org/drawingml/2006/main" noGrp="1"/>
          </p:cNvSpPr>
          <p:nvPr/>
        </p:nvSpPr>
        <p:spPr>
          <a:xfrm xmlns:a="http://schemas.openxmlformats.org/drawingml/2006/main">
            <a:off x="8924925" y="2324100"/>
            <a:ext cx="323850" cy="19050"/>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19" name="">
            <a:extLst xmlns:a="http://schemas.openxmlformats.org/drawingml/2006/main">
              <a:ext uri="{FF2B5EF4-FFF2-40B4-BE49-F238E27FC236}">
                <a16:creationId xmlns:a16="http://schemas.microsoft.com/office/drawing/2014/main" id="{E318DB10-393C-43A1-829C-871C030BE823}"/>
              </a:ext>
            </a:extLst>
          </p:cNvPr>
          <p:cNvSpPr>
            <a:spLocks xmlns:a="http://schemas.openxmlformats.org/drawingml/2006/main" noGrp="1"/>
          </p:cNvSpPr>
          <p:nvPr/>
        </p:nvSpPr>
        <p:spPr>
          <a:xfrm xmlns:a="http://schemas.openxmlformats.org/drawingml/2006/main">
            <a:off x="9372600" y="15811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5DD8"/>
                </a:solidFill>
                <a:latin typeface="Arial"/>
                <a:ea typeface="Arial"/>
                <a:cs typeface="Arial"/>
              </a:defRPr>
            </a:pPr>
            <a:r>
              <a:rPr sz="2250" b="1">
                <a:solidFill>
                  <a:srgbClr val="245DD8"/>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CE03A88D-81FE-4A43-AD04-E43EF4B0AEB0}"/>
              </a:ext>
            </a:extLst>
          </p:cNvPr>
          <p:cNvSpPr>
            <a:spLocks xmlns:a="http://schemas.openxmlformats.org/drawingml/2006/main" noGrp="1"/>
          </p:cNvSpPr>
          <p:nvPr/>
        </p:nvSpPr>
        <p:spPr>
          <a:xfrm xmlns:a="http://schemas.openxmlformats.org/drawingml/2006/main">
            <a:off x="9372600" y="211455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D50"/>
                </a:solidFill>
                <a:latin typeface="Arial"/>
                <a:ea typeface="Arial"/>
                <a:cs typeface="Arial"/>
              </a:defRPr>
            </a:pPr>
            <a:r>
              <a:rPr sz="2100" b="1">
                <a:solidFill>
                  <a:srgbClr val="142D50"/>
                </a:solidFill>
                <a:latin typeface="Arial"/>
                <a:ea typeface="Arial"/>
                <a:cs typeface="Arial"/>
              </a:rPr>
              <a:t>PostgreSQL</a:t>
            </a:r>
          </a:p>
        </p:txBody>
      </p:sp>
      <p:sp>
        <p:nvSpPr>
          <p:cNvPr id="21" name="">
            <a:extLst xmlns:a="http://schemas.openxmlformats.org/drawingml/2006/main">
              <a:ext uri="{FF2B5EF4-FFF2-40B4-BE49-F238E27FC236}">
                <a16:creationId xmlns:a16="http://schemas.microsoft.com/office/drawing/2014/main" id="{345771E1-3F41-469B-9CB1-431CD3C9C559}"/>
              </a:ext>
            </a:extLst>
          </p:cNvPr>
          <p:cNvSpPr>
            <a:spLocks xmlns:a="http://schemas.openxmlformats.org/drawingml/2006/main" noGrp="1"/>
          </p:cNvSpPr>
          <p:nvPr/>
        </p:nvSpPr>
        <p:spPr>
          <a:xfrm xmlns:a="http://schemas.openxmlformats.org/drawingml/2006/main">
            <a:off x="9372600" y="2667000"/>
            <a:ext cx="190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Private and</a:t>
            </a:r>
          </a:p>
          <a:p xmlns:a="http://schemas.openxmlformats.org/drawingml/2006/main">
            <a:pPr>
              <a:defRPr sz="1650" b="0">
                <a:solidFill>
                  <a:srgbClr val="51677F"/>
                </a:solidFill>
                <a:latin typeface="Arial"/>
                <a:ea typeface="Arial"/>
                <a:cs typeface="Arial"/>
              </a:defRPr>
            </a:pPr>
            <a:r>
              <a:rPr sz="1650" b="0">
                <a:solidFill>
                  <a:srgbClr val="51677F"/>
                </a:solidFill>
                <a:latin typeface="Arial"/>
                <a:ea typeface="Arial"/>
                <a:cs typeface="Arial"/>
              </a:rPr>
              <a:t>SELECT-only</a:t>
            </a:r>
          </a:p>
        </p:txBody>
      </p:sp>
      <p:sp>
        <p:nvSpPr>
          <p:cNvPr id="22" name="">
            <a:extLst xmlns:a="http://schemas.openxmlformats.org/drawingml/2006/main">
              <a:ext uri="{FF2B5EF4-FFF2-40B4-BE49-F238E27FC236}">
                <a16:creationId xmlns:a16="http://schemas.microsoft.com/office/drawing/2014/main" id="{08D8BC4C-BC5C-4ADE-B185-61DED7C784F4}"/>
              </a:ext>
            </a:extLst>
          </p:cNvPr>
          <p:cNvSpPr>
            <a:spLocks xmlns:a="http://schemas.openxmlformats.org/drawingml/2006/main" noGrp="1"/>
          </p:cNvSpPr>
          <p:nvPr/>
        </p:nvSpPr>
        <p:spPr>
          <a:xfrm xmlns:a="http://schemas.openxmlformats.org/drawingml/2006/main">
            <a:off x="609600" y="3733800"/>
            <a:ext cx="1097280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23" name="">
            <a:extLst xmlns:a="http://schemas.openxmlformats.org/drawingml/2006/main">
              <a:ext uri="{FF2B5EF4-FFF2-40B4-BE49-F238E27FC236}">
                <a16:creationId xmlns:a16="http://schemas.microsoft.com/office/drawing/2014/main" id="{09BC09DD-A734-443D-B450-3E512410BCE4}"/>
              </a:ext>
            </a:extLst>
          </p:cNvPr>
          <p:cNvSpPr>
            <a:spLocks xmlns:a="http://schemas.openxmlformats.org/drawingml/2006/main" noGrp="1"/>
          </p:cNvSpPr>
          <p:nvPr/>
        </p:nvSpPr>
        <p:spPr>
          <a:xfrm xmlns:a="http://schemas.openxmlformats.org/drawingml/2006/main">
            <a:off x="609600" y="405765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Public HTTPS</a:t>
            </a:r>
          </a:p>
        </p:txBody>
      </p:sp>
      <p:sp>
        <p:nvSpPr>
          <p:cNvPr id="24" name="">
            <a:extLst xmlns:a="http://schemas.openxmlformats.org/drawingml/2006/main">
              <a:ext uri="{FF2B5EF4-FFF2-40B4-BE49-F238E27FC236}">
                <a16:creationId xmlns:a16="http://schemas.microsoft.com/office/drawing/2014/main" id="{76491778-E05A-4E09-81C8-4009EC5C6E39}"/>
              </a:ext>
            </a:extLst>
          </p:cNvPr>
          <p:cNvSpPr>
            <a:spLocks xmlns:a="http://schemas.openxmlformats.org/drawingml/2006/main" noGrp="1"/>
          </p:cNvSpPr>
          <p:nvPr/>
        </p:nvSpPr>
        <p:spPr>
          <a:xfrm xmlns:a="http://schemas.openxmlformats.org/drawingml/2006/main">
            <a:off x="3143250" y="394335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834A"/>
                </a:solidFill>
                <a:latin typeface="Arial"/>
                <a:ea typeface="Arial"/>
                <a:cs typeface="Arial"/>
              </a:defRPr>
            </a:pPr>
            <a:r>
              <a:rPr sz="2250" b="1">
                <a:solidFill>
                  <a:srgbClr val="17834A"/>
                </a:solidFill>
                <a:latin typeface="Arial"/>
                <a:ea typeface="Arial"/>
                <a:cs typeface="Arial"/>
              </a:rPr>
              <a:t>8 routes and 5 agentic chat checks passed</a:t>
            </a:r>
          </a:p>
        </p:txBody>
      </p:sp>
      <p:sp>
        <p:nvSpPr>
          <p:cNvPr id="25" name="">
            <a:extLst xmlns:a="http://schemas.openxmlformats.org/drawingml/2006/main">
              <a:ext uri="{FF2B5EF4-FFF2-40B4-BE49-F238E27FC236}">
                <a16:creationId xmlns:a16="http://schemas.microsoft.com/office/drawing/2014/main" id="{372AF485-76F1-4103-ABA0-B06A68F28527}"/>
              </a:ext>
            </a:extLst>
          </p:cNvPr>
          <p:cNvSpPr>
            <a:spLocks xmlns:a="http://schemas.openxmlformats.org/drawingml/2006/main" noGrp="1"/>
          </p:cNvSpPr>
          <p:nvPr/>
        </p:nvSpPr>
        <p:spPr>
          <a:xfrm xmlns:a="http://schemas.openxmlformats.org/drawingml/2006/main">
            <a:off x="609600" y="476250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Audit logging</a:t>
            </a:r>
          </a:p>
        </p:txBody>
      </p:sp>
      <p:sp>
        <p:nvSpPr>
          <p:cNvPr id="26" name="">
            <a:extLst xmlns:a="http://schemas.openxmlformats.org/drawingml/2006/main">
              <a:ext uri="{FF2B5EF4-FFF2-40B4-BE49-F238E27FC236}">
                <a16:creationId xmlns:a16="http://schemas.microsoft.com/office/drawing/2014/main" id="{B64F23E8-AFF9-4578-822B-CA6CD22E1495}"/>
              </a:ext>
            </a:extLst>
          </p:cNvPr>
          <p:cNvSpPr>
            <a:spLocks xmlns:a="http://schemas.openxmlformats.org/drawingml/2006/main" noGrp="1"/>
          </p:cNvSpPr>
          <p:nvPr/>
        </p:nvSpPr>
        <p:spPr>
          <a:xfrm xmlns:a="http://schemas.openxmlformats.org/drawingml/2006/main">
            <a:off x="3143250" y="464820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D50"/>
                </a:solidFill>
                <a:latin typeface="Arial"/>
                <a:ea typeface="Arial"/>
                <a:cs typeface="Arial"/>
              </a:defRPr>
            </a:pPr>
            <a:r>
              <a:rPr sz="2175" b="1">
                <a:solidFill>
                  <a:srgbClr val="142D50"/>
                </a:solidFill>
                <a:latin typeface="Arial"/>
                <a:ea typeface="Arial"/>
                <a:cs typeface="Arial"/>
              </a:rPr>
              <a:t>5 safe completion lines exported to CloudWatch</a:t>
            </a:r>
          </a:p>
        </p:txBody>
      </p:sp>
      <p:sp>
        <p:nvSpPr>
          <p:cNvPr id="27" name="">
            <a:extLst xmlns:a="http://schemas.openxmlformats.org/drawingml/2006/main">
              <a:ext uri="{FF2B5EF4-FFF2-40B4-BE49-F238E27FC236}">
                <a16:creationId xmlns:a16="http://schemas.microsoft.com/office/drawing/2014/main" id="{EDEE922D-755D-461C-A578-4F35892D3291}"/>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34D1B"/>
                </a:solidFill>
                <a:latin typeface="Arial"/>
                <a:ea typeface="Arial"/>
                <a:cs typeface="Arial"/>
              </a:defRPr>
            </a:pPr>
            <a:r>
              <a:rPr sz="1650" b="0">
                <a:solidFill>
                  <a:srgbClr val="A34D1B"/>
                </a:solidFill>
                <a:latin typeface="Arial"/>
                <a:ea typeface="Arial"/>
                <a:cs typeface="Arial"/>
              </a:rPr>
              <a:t>Estimated Lightsail baseline: about $30/month plus Bedrock and incidental usage. Earlier ALB resources still incur charges.</a:t>
            </a:r>
          </a:p>
        </p:txBody>
      </p:sp>
    </p:spTree>
    <p:extLst>
      <p:ext uri="{BB962C8B-B14F-4D97-AF65-F5344CB8AC3E}">
        <p14:creationId xmlns:p14="http://schemas.microsoft.com/office/powerpoint/2010/main" val="506585277"/>
      </p:ext>
    </p:extLst>
  </p:cSld>
</p:sld>
</file>

<file path=ppt/slides/slide1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54CCEE-4E95-4BEE-84D3-02D1F7AD579B}"/>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Live Monaco prediction</a:t>
            </a:r>
          </a:p>
        </p:txBody>
      </p:sp>
      <p:sp>
        <p:nvSpPr>
          <p:cNvPr id="2" name="">
            <a:extLst xmlns:a="http://schemas.openxmlformats.org/drawingml/2006/main">
              <a:ext uri="{FF2B5EF4-FFF2-40B4-BE49-F238E27FC236}">
                <a16:creationId xmlns:a16="http://schemas.microsoft.com/office/drawing/2014/main" id="{DDAC7235-2704-4242-BEA1-FFC205FB76D3}"/>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3b0af652a214271"/>
          <a:stretch xmlns:a="http://schemas.openxmlformats.org/drawingml/2006/main"/>
        </p:blipFill>
        <p:spPr>
          <a:xfrm xmlns:a="http://schemas.openxmlformats.org/drawingml/2006/main">
            <a:off x="1085850" y="1409700"/>
            <a:ext cx="7620000"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E57258-B76F-458D-9D1B-3646B5C9A732}"/>
              </a:ext>
            </a:extLst>
          </p:cNvPr>
          <p:cNvSpPr>
            <a:spLocks xmlns:a="http://schemas.openxmlformats.org/drawingml/2006/main" noGrp="1"/>
          </p:cNvSpPr>
          <p:nvPr/>
        </p:nvSpPr>
        <p:spPr>
          <a:xfrm xmlns:a="http://schemas.openxmlformats.org/drawingml/2006/main">
            <a:off x="9477375" y="1866900"/>
            <a:ext cx="214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45DD8"/>
                </a:solidFill>
                <a:latin typeface="Arial"/>
                <a:ea typeface="Arial"/>
                <a:cs typeface="Arial"/>
              </a:defRPr>
            </a:pPr>
            <a:r>
              <a:rPr sz="4050" b="1">
                <a:solidFill>
                  <a:srgbClr val="245DD8"/>
                </a:solidFill>
                <a:latin typeface="Arial"/>
                <a:ea typeface="Arial"/>
                <a:cs typeface="Arial"/>
              </a:rPr>
              <a:t>76.4%</a:t>
            </a:r>
          </a:p>
        </p:txBody>
      </p:sp>
      <p:sp>
        <p:nvSpPr>
          <p:cNvPr id="5" name="">
            <a:extLst xmlns:a="http://schemas.openxmlformats.org/drawingml/2006/main">
              <a:ext uri="{FF2B5EF4-FFF2-40B4-BE49-F238E27FC236}">
                <a16:creationId xmlns:a16="http://schemas.microsoft.com/office/drawing/2014/main" id="{3E81D3AA-0331-4682-821E-C6C7B0E6562F}"/>
              </a:ext>
            </a:extLst>
          </p:cNvPr>
          <p:cNvSpPr>
            <a:spLocks xmlns:a="http://schemas.openxmlformats.org/drawingml/2006/main" noGrp="1"/>
          </p:cNvSpPr>
          <p:nvPr/>
        </p:nvSpPr>
        <p:spPr>
          <a:xfrm xmlns:a="http://schemas.openxmlformats.org/drawingml/2006/main">
            <a:off x="9477375" y="2609850"/>
            <a:ext cx="2143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Leclerc podium probability</a:t>
            </a:r>
          </a:p>
        </p:txBody>
      </p:sp>
      <p:sp>
        <p:nvSpPr>
          <p:cNvPr id="6" name="">
            <a:extLst xmlns:a="http://schemas.openxmlformats.org/drawingml/2006/main">
              <a:ext uri="{FF2B5EF4-FFF2-40B4-BE49-F238E27FC236}">
                <a16:creationId xmlns:a16="http://schemas.microsoft.com/office/drawing/2014/main" id="{2FC4BCA4-8E2C-456F-A7A7-D5D1F458EC21}"/>
              </a:ext>
            </a:extLst>
          </p:cNvPr>
          <p:cNvSpPr>
            <a:spLocks xmlns:a="http://schemas.openxmlformats.org/drawingml/2006/main" noGrp="1"/>
          </p:cNvSpPr>
          <p:nvPr/>
        </p:nvSpPr>
        <p:spPr>
          <a:xfrm xmlns:a="http://schemas.openxmlformats.org/drawingml/2006/main">
            <a:off x="9477375" y="3486150"/>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1677F"/>
                </a:solidFill>
                <a:latin typeface="Arial"/>
                <a:ea typeface="Arial"/>
                <a:cs typeface="Arial"/>
              </a:defRPr>
            </a:pPr>
            <a:r>
              <a:rPr sz="1800" b="0">
                <a:solidFill>
                  <a:srgbClr val="51677F"/>
                </a:solidFill>
                <a:latin typeface="Arial"/>
                <a:ea typeface="Arial"/>
                <a:cs typeface="Arial"/>
              </a:rPr>
              <a:t>70.9% grid-only baseline</a:t>
            </a:r>
          </a:p>
        </p:txBody>
      </p:sp>
      <p:sp>
        <p:nvSpPr>
          <p:cNvPr id="7" name="">
            <a:extLst xmlns:a="http://schemas.openxmlformats.org/drawingml/2006/main">
              <a:ext uri="{FF2B5EF4-FFF2-40B4-BE49-F238E27FC236}">
                <a16:creationId xmlns:a16="http://schemas.microsoft.com/office/drawing/2014/main" id="{1F6ACC70-577D-4D41-85E5-B366EE852617}"/>
              </a:ext>
            </a:extLst>
          </p:cNvPr>
          <p:cNvSpPr>
            <a:spLocks xmlns:a="http://schemas.openxmlformats.org/drawingml/2006/main" noGrp="1"/>
          </p:cNvSpPr>
          <p:nvPr/>
        </p:nvSpPr>
        <p:spPr>
          <a:xfrm xmlns:a="http://schemas.openxmlformats.org/drawingml/2006/main">
            <a:off x="9477375" y="4514850"/>
            <a:ext cx="2143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20 drivers</a:t>
            </a:r>
          </a:p>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real model output</a:t>
            </a:r>
          </a:p>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actual SHAP factors</a:t>
            </a:r>
          </a:p>
        </p:txBody>
      </p:sp>
    </p:spTree>
    <p:extLst>
      <p:ext uri="{BB962C8B-B14F-4D97-AF65-F5344CB8AC3E}">
        <p14:creationId xmlns:p14="http://schemas.microsoft.com/office/powerpoint/2010/main" val="1121727021"/>
      </p:ext>
    </p:extLst>
  </p:cSld>
</p:sld>
</file>

<file path=ppt/slides/slide1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C296DB2-BA09-47C3-9697-567B0954380A}"/>
              </a:ext>
            </a:extLst>
          </p:cNvPr>
          <p:cNvSpPr>
            <a:spLocks xmlns:a="http://schemas.openxmlformats.org/drawingml/2006/main" noGrp="1"/>
          </p:cNvSpPr>
          <p:nvPr/>
        </p:nvSpPr>
        <p:spPr>
          <a:xfrm xmlns:a="http://schemas.openxmlformats.org/drawingml/2006/main">
            <a:off x="609600" y="400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D50"/>
                </a:solidFill>
                <a:latin typeface="Arial"/>
                <a:ea typeface="Arial"/>
                <a:cs typeface="Arial"/>
              </a:defRPr>
            </a:pPr>
            <a:r>
              <a:rPr sz="3225" b="1">
                <a:solidFill>
                  <a:srgbClr val="142D50"/>
                </a:solidFill>
                <a:latin typeface="Arial"/>
                <a:ea typeface="Arial"/>
                <a:cs typeface="Arial"/>
              </a:rPr>
              <a:t>Final demonstration</a:t>
            </a:r>
          </a:p>
        </p:txBody>
      </p:sp>
      <p:sp>
        <p:nvSpPr>
          <p:cNvPr id="2" name="">
            <a:extLst xmlns:a="http://schemas.openxmlformats.org/drawingml/2006/main">
              <a:ext uri="{FF2B5EF4-FFF2-40B4-BE49-F238E27FC236}">
                <a16:creationId xmlns:a16="http://schemas.microsoft.com/office/drawing/2014/main" id="{83B2173B-3A76-4E8E-9825-7949881BE9B9}"/>
              </a:ext>
            </a:extLst>
          </p:cNvPr>
          <p:cNvSpPr>
            <a:spLocks xmlns:a="http://schemas.openxmlformats.org/drawingml/2006/main" noGrp="1"/>
          </p:cNvSpPr>
          <p:nvPr/>
        </p:nvSpPr>
        <p:spPr>
          <a:xfrm xmlns:a="http://schemas.openxmlformats.org/drawingml/2006/main">
            <a:off x="609600" y="1200150"/>
            <a:ext cx="10972800" cy="28575"/>
          </a:xfrm>
          <a:prstGeom xmlns:a="http://schemas.openxmlformats.org/drawingml/2006/main" prst="rect">
            <a:avLst/>
          </a:prstGeom>
          <a:solidFill xmlns:a="http://schemas.openxmlformats.org/drawingml/2006/main">
            <a:srgbClr val="245DD8"/>
          </a:solidFill>
          <a:ln xmlns:a="http://schemas.openxmlformats.org/drawingml/2006/main" w="0">
            <a:solidFill>
              <a:srgbClr val="245DD8"/>
            </a:solidFill>
          </a:ln>
        </p:spPr>
      </p:sp>
      <p:sp>
        <p:nvSpPr>
          <p:cNvPr id="3" name="">
            <a:extLst xmlns:a="http://schemas.openxmlformats.org/drawingml/2006/main">
              <a:ext uri="{FF2B5EF4-FFF2-40B4-BE49-F238E27FC236}">
                <a16:creationId xmlns:a16="http://schemas.microsoft.com/office/drawing/2014/main" id="{56EF2A80-4340-43EF-AC65-2F3A50AA971D}"/>
              </a:ext>
            </a:extLst>
          </p:cNvPr>
          <p:cNvSpPr>
            <a:spLocks xmlns:a="http://schemas.openxmlformats.org/drawingml/2006/main" noGrp="1"/>
          </p:cNvSpPr>
          <p:nvPr/>
        </p:nvSpPr>
        <p:spPr>
          <a:xfrm xmlns:a="http://schemas.openxmlformats.org/drawingml/2006/main">
            <a:off x="609600" y="1504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1. Open the 2024 dashboard and the Monaco race weekend.</a:t>
            </a:r>
          </a:p>
        </p:txBody>
      </p:sp>
      <p:sp>
        <p:nvSpPr>
          <p:cNvPr id="4" name="">
            <a:extLst xmlns:a="http://schemas.openxmlformats.org/drawingml/2006/main">
              <a:ext uri="{FF2B5EF4-FFF2-40B4-BE49-F238E27FC236}">
                <a16:creationId xmlns:a16="http://schemas.microsoft.com/office/drawing/2014/main" id="{96F1571D-476E-460D-81CF-A3A2232308D2}"/>
              </a:ext>
            </a:extLst>
          </p:cNvPr>
          <p:cNvSpPr>
            <a:spLocks xmlns:a="http://schemas.openxmlformats.org/drawingml/2006/main" noGrp="1"/>
          </p:cNvSpPr>
          <p:nvPr/>
        </p:nvSpPr>
        <p:spPr>
          <a:xfrm xmlns:a="http://schemas.openxmlformats.org/drawingml/2006/main">
            <a:off x="609600" y="2190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2. Compare drivers and inspect the 76.4% Leclerc prediction.</a:t>
            </a:r>
          </a:p>
        </p:txBody>
      </p:sp>
      <p:sp>
        <p:nvSpPr>
          <p:cNvPr id="5" name="">
            <a:extLst xmlns:a="http://schemas.openxmlformats.org/drawingml/2006/main">
              <a:ext uri="{FF2B5EF4-FFF2-40B4-BE49-F238E27FC236}">
                <a16:creationId xmlns:a16="http://schemas.microsoft.com/office/drawing/2014/main" id="{0041D10D-EBA4-473F-888E-0711CEB8B0ED}"/>
              </a:ext>
            </a:extLst>
          </p:cNvPr>
          <p:cNvSpPr>
            <a:spLocks xmlns:a="http://schemas.openxmlformats.org/drawingml/2006/main" noGrp="1"/>
          </p:cNvSpPr>
          <p:nvPr/>
        </p:nvSpPr>
        <p:spPr>
          <a:xfrm xmlns:a="http://schemas.openxmlformats.org/drawingml/2006/main">
            <a:off x="609600" y="28765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3. Ask the misspelled Hamilton question and expand the answer trace.</a:t>
            </a:r>
          </a:p>
        </p:txBody>
      </p:sp>
      <p:sp>
        <p:nvSpPr>
          <p:cNvPr id="6" name="">
            <a:extLst xmlns:a="http://schemas.openxmlformats.org/drawingml/2006/main">
              <a:ext uri="{FF2B5EF4-FFF2-40B4-BE49-F238E27FC236}">
                <a16:creationId xmlns:a16="http://schemas.microsoft.com/office/drawing/2014/main" id="{F7D75239-B354-4F25-8F64-E9292D42C17F}"/>
              </a:ext>
            </a:extLst>
          </p:cNvPr>
          <p:cNvSpPr>
            <a:spLocks xmlns:a="http://schemas.openxmlformats.org/drawingml/2006/main" noGrp="1"/>
          </p:cNvSpPr>
          <p:nvPr/>
        </p:nvSpPr>
        <p:spPr>
          <a:xfrm xmlns:a="http://schemas.openxmlformats.org/drawingml/2006/main">
            <a:off x="609600" y="3562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4. Ask the structured follow-up, then show ambiguity and weather refusals.</a:t>
            </a:r>
          </a:p>
        </p:txBody>
      </p:sp>
      <p:sp>
        <p:nvSpPr>
          <p:cNvPr id="7" name="">
            <a:extLst xmlns:a="http://schemas.openxmlformats.org/drawingml/2006/main">
              <a:ext uri="{FF2B5EF4-FFF2-40B4-BE49-F238E27FC236}">
                <a16:creationId xmlns:a16="http://schemas.microsoft.com/office/drawing/2014/main" id="{30C34FC5-4F13-4D47-802B-8D428AC8EF6C}"/>
              </a:ext>
            </a:extLst>
          </p:cNvPr>
          <p:cNvSpPr>
            <a:spLocks xmlns:a="http://schemas.openxmlformats.org/drawingml/2006/main" noGrp="1"/>
          </p:cNvSpPr>
          <p:nvPr/>
        </p:nvSpPr>
        <p:spPr>
          <a:xfrm xmlns:a="http://schemas.openxmlformats.org/drawingml/2006/main">
            <a:off x="609600" y="42481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D50"/>
                </a:solidFill>
                <a:latin typeface="Arial"/>
                <a:ea typeface="Arial"/>
                <a:cs typeface="Arial"/>
              </a:defRPr>
            </a:pPr>
            <a:r>
              <a:rPr sz="1875" b="0">
                <a:solidFill>
                  <a:srgbClr val="142D50"/>
                </a:solidFill>
                <a:latin typeface="Arial"/>
                <a:ea typeface="Arial"/>
                <a:cs typeface="Arial"/>
              </a:rPr>
              <a:t>5. Open GitHub Actions, release reports and the preserved benchmark runs.</a:t>
            </a:r>
          </a:p>
        </p:txBody>
      </p:sp>
      <p:sp>
        <p:nvSpPr>
          <p:cNvPr id="8" name="">
            <a:extLst xmlns:a="http://schemas.openxmlformats.org/drawingml/2006/main">
              <a:ext uri="{FF2B5EF4-FFF2-40B4-BE49-F238E27FC236}">
                <a16:creationId xmlns:a16="http://schemas.microsoft.com/office/drawing/2014/main" id="{09205E4E-8BF1-4A6B-AE16-9ACF352BB5D2}"/>
              </a:ext>
            </a:extLst>
          </p:cNvPr>
          <p:cNvSpPr>
            <a:spLocks xmlns:a="http://schemas.openxmlformats.org/drawingml/2006/main" noGrp="1"/>
          </p:cNvSpPr>
          <p:nvPr/>
        </p:nvSpPr>
        <p:spPr>
          <a:xfrm xmlns:a="http://schemas.openxmlformats.org/drawingml/2006/main">
            <a:off x="609600" y="5067300"/>
            <a:ext cx="10972800" cy="9525"/>
          </a:xfrm>
          <a:prstGeom xmlns:a="http://schemas.openxmlformats.org/drawingml/2006/main" prst="rect">
            <a:avLst/>
          </a:prstGeom>
          <a:solidFill xmlns:a="http://schemas.openxmlformats.org/drawingml/2006/main">
            <a:srgbClr val="C9D6E5"/>
          </a:solidFill>
          <a:ln xmlns:a="http://schemas.openxmlformats.org/drawingml/2006/main" w="0">
            <a:solidFill>
              <a:srgbClr val="C9D6E5"/>
            </a:solidFill>
          </a:ln>
        </p:spPr>
      </p:sp>
      <p:sp>
        <p:nvSpPr>
          <p:cNvPr id="9" name="">
            <a:extLst xmlns:a="http://schemas.openxmlformats.org/drawingml/2006/main">
              <a:ext uri="{FF2B5EF4-FFF2-40B4-BE49-F238E27FC236}">
                <a16:creationId xmlns:a16="http://schemas.microsoft.com/office/drawing/2014/main" id="{9380615B-47BB-452E-AB69-3DBAA57A1FB3}"/>
              </a:ext>
            </a:extLst>
          </p:cNvPr>
          <p:cNvSpPr>
            <a:spLocks xmlns:a="http://schemas.openxmlformats.org/drawingml/2006/main" noGrp="1"/>
          </p:cNvSpPr>
          <p:nvPr/>
        </p:nvSpPr>
        <p:spPr>
          <a:xfrm xmlns:a="http://schemas.openxmlformats.org/drawingml/2006/main">
            <a:off x="609600" y="53149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1677F"/>
                </a:solidFill>
                <a:latin typeface="Arial"/>
                <a:ea typeface="Arial"/>
                <a:cs typeface="Arial"/>
              </a:defRPr>
            </a:pPr>
            <a:r>
              <a:rPr sz="1725" b="1">
                <a:solidFill>
                  <a:srgbClr val="51677F"/>
                </a:solidFill>
                <a:latin typeface="Arial"/>
                <a:ea typeface="Arial"/>
                <a:cs typeface="Arial"/>
              </a:rPr>
              <a:t>Scope limits</a:t>
            </a:r>
          </a:p>
        </p:txBody>
      </p:sp>
      <p:sp>
        <p:nvSpPr>
          <p:cNvPr id="10" name="">
            <a:extLst xmlns:a="http://schemas.openxmlformats.org/drawingml/2006/main">
              <a:ext uri="{FF2B5EF4-FFF2-40B4-BE49-F238E27FC236}">
                <a16:creationId xmlns:a16="http://schemas.microsoft.com/office/drawing/2014/main" id="{232F1052-82AF-41E7-BE75-2950A7999D55}"/>
              </a:ext>
            </a:extLst>
          </p:cNvPr>
          <p:cNvSpPr>
            <a:spLocks xmlns:a="http://schemas.openxmlformats.org/drawingml/2006/main" noGrp="1"/>
          </p:cNvSpPr>
          <p:nvPr/>
        </p:nvSpPr>
        <p:spPr>
          <a:xfrm xmlns:a="http://schemas.openxmlformats.org/drawingml/2006/main">
            <a:off x="2781300" y="5219700"/>
            <a:ext cx="8801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D50"/>
                </a:solidFill>
                <a:latin typeface="Arial"/>
                <a:ea typeface="Arial"/>
                <a:cs typeface="Arial"/>
              </a:defRPr>
            </a:pPr>
            <a:r>
              <a:rPr sz="1800" b="0">
                <a:solidFill>
                  <a:srgbClr val="142D50"/>
                </a:solidFill>
                <a:latin typeface="Arial"/>
                <a:ea typeface="Arial"/>
                <a:cs typeface="Arial"/>
              </a:rPr>
              <a:t>Archive ends in 2024. No weather, tyres, telemetry, betting or live feed. Demo access and quotas are process-level.</a:t>
            </a:r>
          </a:p>
        </p:txBody>
      </p:sp>
      <p:sp>
        <p:nvSpPr>
          <p:cNvPr id="11" name="">
            <a:extLst xmlns:a="http://schemas.openxmlformats.org/drawingml/2006/main">
              <a:ext uri="{FF2B5EF4-FFF2-40B4-BE49-F238E27FC236}">
                <a16:creationId xmlns:a16="http://schemas.microsoft.com/office/drawing/2014/main" id="{AC387F0A-86F1-4FBE-9106-6A89A453A5AD}"/>
              </a:ext>
            </a:extLst>
          </p:cNvPr>
          <p:cNvSpPr>
            <a:spLocks xmlns:a="http://schemas.openxmlformats.org/drawingml/2006/main" noGrp="1"/>
          </p:cNvSpPr>
          <p:nvPr/>
        </p:nvSpPr>
        <p:spPr>
          <a:xfrm xmlns:a="http://schemas.openxmlformats.org/drawingml/2006/main">
            <a:off x="609600" y="61150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5DD8"/>
                </a:solidFill>
                <a:latin typeface="Arial"/>
                <a:ea typeface="Arial"/>
                <a:cs typeface="Arial"/>
              </a:defRPr>
            </a:pPr>
            <a:r>
              <a:rPr sz="1650" b="1">
                <a:solidFill>
                  <a:srgbClr val="245DD8"/>
                </a:solidFill>
                <a:latin typeface="Arial"/>
                <a:ea typeface="Arial"/>
                <a:cs typeface="Arial"/>
              </a:rPr>
              <a:t>Live: f1-strategist-demo.ys85rp5g9ncdj.eu-north-1.cs.amazonlightsail.com</a:t>
            </a:r>
          </a:p>
        </p:txBody>
      </p:sp>
    </p:spTree>
    <p:extLst>
      <p:ext uri="{BB962C8B-B14F-4D97-AF65-F5344CB8AC3E}">
        <p14:creationId xmlns:p14="http://schemas.microsoft.com/office/powerpoint/2010/main" val="2108437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2026-09-10T09:13:02.1660000Z</dcterms:created>
  <dcterms:modified xsi:type="dcterms:W3CDTF">2026-09-10T09:13:02.1660000Z</dcterms:modified>
</coreProperties>
</file>