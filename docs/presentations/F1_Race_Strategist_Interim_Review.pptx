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e6f24e23b894680" /><Relationship Type="http://schemas.openxmlformats.org/officeDocument/2006/relationships/extended-properties" Target="/docProps/app.xml" Id="Rd90fb357b52b4798" /><Relationship Type="http://schemas.openxmlformats.org/officeDocument/2006/relationships/officeDocument" Target="/ppt/presentation.xml" Id="Rc960e97d8df04cf6" /></Relationships>
</file>

<file path=ppt/presentation.xml><?xml version="1.0" encoding="utf-8"?>
<p:presentation xmlns:p="http://schemas.openxmlformats.org/presentationml/2006/main">
  <p:sldMasterIdLst>
    <p:sldMasterId xmlns:r="http://schemas.openxmlformats.org/officeDocument/2006/relationships" id="2147483648" r:id="R35373fdfcb7649fc"/>
  </p:sldMasterIdLst>
  <p:notesMasterIdLst>
    <p:notesMasterId xmlns:r="http://schemas.openxmlformats.org/officeDocument/2006/relationships" r:id="Rb1321a2243fa4e30"/>
  </p:notesMasterIdLst>
  <p:sldIdLst>
    <p:sldId xmlns:r="http://schemas.openxmlformats.org/officeDocument/2006/relationships" id="256" r:id="Rfe8612fe5e084dea"/>
    <p:sldId xmlns:r="http://schemas.openxmlformats.org/officeDocument/2006/relationships" id="257" r:id="Rebbac8983ae54b8e"/>
    <p:sldId xmlns:r="http://schemas.openxmlformats.org/officeDocument/2006/relationships" id="258" r:id="R59f528379f664c00"/>
    <p:sldId xmlns:r="http://schemas.openxmlformats.org/officeDocument/2006/relationships" id="259" r:id="Rc9cced45372e4d39"/>
    <p:sldId xmlns:r="http://schemas.openxmlformats.org/officeDocument/2006/relationships" id="260" r:id="Rf7b462ed81404edf"/>
    <p:sldId xmlns:r="http://schemas.openxmlformats.org/officeDocument/2006/relationships" id="261" r:id="Rde67c06850854f69"/>
    <p:sldId xmlns:r="http://schemas.openxmlformats.org/officeDocument/2006/relationships" id="262" r:id="Ra40daca6de1c4360"/>
    <p:sldId xmlns:r="http://schemas.openxmlformats.org/officeDocument/2006/relationships" id="263" r:id="Rf27be2318acc4bc4"/>
    <p:sldId xmlns:r="http://schemas.openxmlformats.org/officeDocument/2006/relationships" id="264" r:id="R1dffcbf0f8da4e38"/>
    <p:sldId xmlns:r="http://schemas.openxmlformats.org/officeDocument/2006/relationships" id="265" r:id="R6d8547a5525a4477"/>
    <p:sldId xmlns:r="http://schemas.openxmlformats.org/officeDocument/2006/relationships" id="266" r:id="Rbe7ad5e3b780441d"/>
    <p:sldId xmlns:r="http://schemas.openxmlformats.org/officeDocument/2006/relationships" id="267" r:id="Rbde6bbcbdcd54e40"/>
    <p:sldId xmlns:r="http://schemas.openxmlformats.org/officeDocument/2006/relationships" id="268" r:id="R55035d2687c0424e"/>
    <p:sldId xmlns:r="http://schemas.openxmlformats.org/officeDocument/2006/relationships" id="269" r:id="R77c8e0f8926d49e3"/>
    <p:sldId xmlns:r="http://schemas.openxmlformats.org/officeDocument/2006/relationships" id="270" r:id="R68afe58b10474c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65e0fc5da44bfb" /><Relationship Type="http://schemas.openxmlformats.org/officeDocument/2006/relationships/slideMaster" Target="/ppt/slideMasters/slideMaster1.xml" Id="R35373fdfcb7649fc" /><Relationship Type="http://schemas.openxmlformats.org/officeDocument/2006/relationships/notesMaster" Target="/ppt/notesMasters/notesMaster1.xml" Id="Rb1321a2243fa4e30" /><Relationship Type="http://schemas.openxmlformats.org/officeDocument/2006/relationships/presProps" Target="/ppt/presProps.xml" Id="R0fe7709afd3643bd" /><Relationship Type="http://schemas.openxmlformats.org/officeDocument/2006/relationships/tableStyles" Target="/ppt/tableStyles.xml" Id="Rb28064de954a4079" /><Relationship Type="http://schemas.openxmlformats.org/officeDocument/2006/relationships/slide" Target="/ppt/slides/slide1.xml" Id="Rfe8612fe5e084dea" /><Relationship Type="http://schemas.openxmlformats.org/officeDocument/2006/relationships/slide" Target="/ppt/slides/slide2.xml" Id="Rebbac8983ae54b8e" /><Relationship Type="http://schemas.openxmlformats.org/officeDocument/2006/relationships/slide" Target="/ppt/slides/slide3.xml" Id="R59f528379f664c00" /><Relationship Type="http://schemas.openxmlformats.org/officeDocument/2006/relationships/slide" Target="/ppt/slides/slide4.xml" Id="Rc9cced45372e4d39" /><Relationship Type="http://schemas.openxmlformats.org/officeDocument/2006/relationships/slide" Target="/ppt/slides/slide5.xml" Id="Rf7b462ed81404edf" /><Relationship Type="http://schemas.openxmlformats.org/officeDocument/2006/relationships/slide" Target="/ppt/slides/slide6.xml" Id="Rde67c06850854f69" /><Relationship Type="http://schemas.openxmlformats.org/officeDocument/2006/relationships/slide" Target="/ppt/slides/slide7.xml" Id="Ra40daca6de1c4360" /><Relationship Type="http://schemas.openxmlformats.org/officeDocument/2006/relationships/slide" Target="/ppt/slides/slide8.xml" Id="Rf27be2318acc4bc4" /><Relationship Type="http://schemas.openxmlformats.org/officeDocument/2006/relationships/slide" Target="/ppt/slides/slide9.xml" Id="R1dffcbf0f8da4e38" /><Relationship Type="http://schemas.openxmlformats.org/officeDocument/2006/relationships/slide" Target="/ppt/slides/slide10.xml" Id="R6d8547a5525a4477" /><Relationship Type="http://schemas.openxmlformats.org/officeDocument/2006/relationships/slide" Target="/ppt/slides/slide11.xml" Id="Rbe7ad5e3b780441d" /><Relationship Type="http://schemas.openxmlformats.org/officeDocument/2006/relationships/slide" Target="/ppt/slides/slide12.xml" Id="Rbde6bbcbdcd54e40" /><Relationship Type="http://schemas.openxmlformats.org/officeDocument/2006/relationships/slide" Target="/ppt/slides/slide13.xml" Id="R55035d2687c0424e" /><Relationship Type="http://schemas.openxmlformats.org/officeDocument/2006/relationships/slide" Target="/ppt/slides/slide14.xml" Id="R77c8e0f8926d49e3" /><Relationship Type="http://schemas.openxmlformats.org/officeDocument/2006/relationships/slide" Target="/ppt/slides/slide15.xml" Id="R68afe58b10474c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a74bb116b043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9bd8b06e6d4636" /><Relationship Type="http://schemas.openxmlformats.org/officeDocument/2006/relationships/notesMaster" Target="/ppt/notesMasters/notesMaster1.xml" Id="R1dd500aec8ac46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38cb0cebd64bc4" /><Relationship Type="http://schemas.openxmlformats.org/officeDocument/2006/relationships/notesMaster" Target="/ppt/notesMasters/notesMaster1.xml" Id="R6d08f3371e1e44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ea53c5855c4ba9" /><Relationship Type="http://schemas.openxmlformats.org/officeDocument/2006/relationships/notesMaster" Target="/ppt/notesMasters/notesMaster1.xml" Id="Rfa8f2f9cbd0445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e20b5421114088" /><Relationship Type="http://schemas.openxmlformats.org/officeDocument/2006/relationships/notesMaster" Target="/ppt/notesMasters/notesMaster1.xml" Id="R574435abde1b41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1af10a4ce04ee9" /><Relationship Type="http://schemas.openxmlformats.org/officeDocument/2006/relationships/notesMaster" Target="/ppt/notesMasters/notesMaster1.xml" Id="R589f6b736ede40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942742135247d6" /><Relationship Type="http://schemas.openxmlformats.org/officeDocument/2006/relationships/notesMaster" Target="/ppt/notesMasters/notesMaster1.xml" Id="R949f87c7978f49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9461f0c7e646c1" /><Relationship Type="http://schemas.openxmlformats.org/officeDocument/2006/relationships/notesMaster" Target="/ppt/notesMasters/notesMaster1.xml" Id="R74b620c67d1942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7c8fd1d70c457b" /><Relationship Type="http://schemas.openxmlformats.org/officeDocument/2006/relationships/notesMaster" Target="/ppt/notesMasters/notesMaster1.xml" Id="R64be69ad65de41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65cc1bd4274676" /><Relationship Type="http://schemas.openxmlformats.org/officeDocument/2006/relationships/notesMaster" Target="/ppt/notesMasters/notesMaster1.xml" Id="R5d4fdb6e6f1e43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3a910d31c6481f" /><Relationship Type="http://schemas.openxmlformats.org/officeDocument/2006/relationships/notesMaster" Target="/ppt/notesMasters/notesMaster1.xml" Id="Rfcc94b71ea6747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3f94766c874cb0" /><Relationship Type="http://schemas.openxmlformats.org/officeDocument/2006/relationships/notesMaster" Target="/ppt/notesMasters/notesMaster1.xml" Id="R9b89961801d740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86677e8f554283" /><Relationship Type="http://schemas.openxmlformats.org/officeDocument/2006/relationships/notesMaster" Target="/ppt/notesMasters/notesMaster1.xml" Id="Rf6e42d8c195441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2c442a56fc46dd" /><Relationship Type="http://schemas.openxmlformats.org/officeDocument/2006/relationships/notesMaster" Target="/ppt/notesMasters/notesMaster1.xml" Id="R371e59c65ac148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cd551aaef9433e" /><Relationship Type="http://schemas.openxmlformats.org/officeDocument/2006/relationships/notesMaster" Target="/ppt/notesMasters/notesMaster1.xml" Id="R73d2980df33a47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ad08eb3e314b04" /><Relationship Type="http://schemas.openxmlformats.org/officeDocument/2006/relationships/notesMaster" Target="/ppt/notesMasters/notesMaster1.xml" Id="R8629ca5965d141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Interim review prepared on 9 September 2026. Presenter: Rayyan. Explain that this is an evidence-backed progress report, not the final completion presentation. The app combines historical F1 analytics, podium modelling and grounded natural-language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repository at commit 328b9b7 and docs/worklog.md. Do not state an invented completion percentage. The local core is verified, while AWS deployment remains in progress. Lightsail provisioning has started after the user authorized an alternative to CloudFront.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reports/data_audit.json and docs/data_audit.md. Open https://github.com/rayyanpasha89/F1/blob/main/docs/data_audit.md . The supplied CSV package is not redistributed because no license receipt accompanied it. Audit code verifies hashes, keys, missingness and foreign 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backend/database.py, scripts/load_data.py and backend/services/analytics.py on GitHub. The loader validates checksums and loads into an empty target transactionally. Local PostgreSQL integration verifies identical feature values and denies writes for the runtime reader role. Production logic resides in tested modules rather than notebooks.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from the running local application. Open http://127.0.0.1:5173/ . Select 2024, point to recorded driver and constructor standings, and explain that standings come from final recorded snapshots rather than simple points sums. Click Monaco in Race weekends.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screenshot of Monaco 2024 qualifying. Open http://127.0.0.1:5173/races/1128?tab=qualifying . Switch Results, Grid, Qualifying and Pit Stops. Click Charles Leclerc to show a driver profile, season results and career statistics. Return to the race for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model output for Monaco 2024. Scroll to Podium probabilities in race 1128. Leclerc 76.4%, grid-only baseline 70.9%. These probabilities come from the frozen calibrated gradient boosting model. The SHAP factors add in calibrated log-odds and reconstruct the probability within 1e-7. The model uses starting grid and earlier race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backend/ml/features.py, tests/test_ml.py, EXPERIMENTS.md and docs/evaluation.md. The original snapshot does not provide pre-event publication timestamps. Historical grids can reflect later corrections, so call this retrospective evaluation, not verified live forecasting. Same-date inputs are emitted before any history update. Completed earlier test races can inform later features, but never refit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reports/final_test_metrics.json or the final evaluation report named in docs/evaluation.md. Open https://github.com/rayyanpasha89/F1/blob/main/docs/evaluation.md . Final test contains 68 races and 1,359 driver-race entries. Lower log loss and Brier score are better, higher AUC is better. Top-three hit rate declines slightly, so do not claim universal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mobile screenshot of local chat. Ask “Who won the most races for Red Bull?” and expand Inspect generated SQL. The executed result is Max Verstappen, 63 wins in this snapshot. Ask “Who performs best at Monaco in wet races?” to demonstrate the dataset refusal. Then ask for podium predictions while on a 2022–2024 race. LLM assumptions remain labeled as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reports/nl2sql_run_01.json through reports/nl2sql_run_05.json and tests/nl2sql/questions.json. All 40 cases were executed against Bedrock openai.gpt-oss-120b. Run 01 was diagnostic because a validator bug also blocked reference SQL. Preserve its value as a diagnostic outcome, not a clean accuracy estimate. The suite was reused during development. Row ordering is not scored and join checks are structural proxies. Final run: 30 analytics and 10 refusals pass, average latency 3.707 seconds across all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from https://github.com/rayyanpasha89/F1/commits/main/ captured on 9 September 2026. Open this URL and scroll through commits. Earlier milestones start with data audit and schema, then API, UI, baseline, model comparison, chat and infrastructure. No backdating or force-push. The worklog honestly records one test-command fall-through and its later corrective commit.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GitHub screenshot of run 34343384677 at commit cc9f510. Open https://github.com/rayyanpasha89/F1/actions/runs/34343384677 . Python, frontend and infrastructure jobs pass. Current local suite after same-origin hosting: 73 passed, 3 opt-in PostgreSQL skips; separately all 3 PostgreSQL tests passed. Five frontend tests pass. CI lacks the private source/model artifacts and covers less than the complete local integration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snapshot on 9 September 2026. Sources: docs/worklog.md and local Terraform execution logs. Both AWS CodeBuild runs succeeded and pushed tested images. Initial plan was 49 additions. Partial apply created 44 managed resources but CloudFront demanded account verification and RDS rejected seven-day backup retention under the Free Tier account plan. The user authorized a Lightsail alternative. Its plan adds a $15/month small container service and $15/month persistent PostgreSQL database. Provisioning is in progress, not a verified public deployment. Earlier ALB remains billable. No cleanup is authorized.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guide accompanies this deck. Open local app, the repository commits, GitHub Actions, EXPERIMENTS.md and docs/evaluation.md in separate tabs. Follow the guide for the exact sequence and expected results. AI disclosure: OpenAI Codex assisted implementation and review. Evidence comes from executed code, genuine tests and live benchmark calls. The implementing agent review is not an independent faculty review. Final delivery still requires a verified public cloud flow and complete deployment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f98d654fba43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8b3af8507d4f94" /><Relationship Type="http://schemas.openxmlformats.org/officeDocument/2006/relationships/slideLayout" Target="/ppt/slideLayouts/slideLayout1.xml" Id="R9dcd391dc8af40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cd391dc8af40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1a0ce83c924373" /><Relationship Type="http://schemas.openxmlformats.org/officeDocument/2006/relationships/notesSlide" Target="/ppt/notesSlides/notesSlide1.xml" Id="Ra82d27013bb74a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084896424b4eae" /><Relationship Type="http://schemas.openxmlformats.org/officeDocument/2006/relationships/notesSlide" Target="/ppt/notesSlides/notesSlide2.xml" Id="R52863a23810245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d31e9757c5b450f" /><Relationship Type="http://schemas.openxmlformats.org/officeDocument/2006/relationships/notesSlide" Target="/ppt/notesSlides/notesSlide3.xml" Id="R198c51029c0949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b467d475964bfc" /><Relationship Type="http://schemas.openxmlformats.org/officeDocument/2006/relationships/notesSlide" Target="/ppt/notesSlides/notesSlide4.xml" Id="R8b311b12fd544c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6e58cf339b46e1" /><Relationship Type="http://schemas.openxmlformats.org/officeDocument/2006/relationships/image" Target="/ppt/media/image.png" Id="R773b880b1ece4f9e" /><Relationship Type="http://schemas.openxmlformats.org/officeDocument/2006/relationships/notesSlide" Target="/ppt/notesSlides/notesSlide5.xml" Id="R27ac5b73d2d54b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1994d22b524c36" /><Relationship Type="http://schemas.openxmlformats.org/officeDocument/2006/relationships/image" Target="/ppt/media/image2.png" Id="R4b200b5ae69c464a" /><Relationship Type="http://schemas.openxmlformats.org/officeDocument/2006/relationships/notesSlide" Target="/ppt/notesSlides/notesSlide6.xml" Id="Ra9526858cb8f48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d2d9f87009410b" /><Relationship Type="http://schemas.openxmlformats.org/officeDocument/2006/relationships/image" Target="/ppt/media/image3.png" Id="R541307c7d963484c" /><Relationship Type="http://schemas.openxmlformats.org/officeDocument/2006/relationships/notesSlide" Target="/ppt/notesSlides/notesSlide7.xml" Id="Rd5bd7ba9fba642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06c7a651d2f4fbe" /><Relationship Type="http://schemas.openxmlformats.org/officeDocument/2006/relationships/notesSlide" Target="/ppt/notesSlides/notesSlide8.xml" Id="R640a41e7b6364a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581972f5cb46b1" /><Relationship Type="http://schemas.openxmlformats.org/officeDocument/2006/relationships/notesSlide" Target="/ppt/notesSlides/notesSlide9.xml" Id="Rfd5c3e3c750b4d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357f1f952d46ab" /><Relationship Type="http://schemas.openxmlformats.org/officeDocument/2006/relationships/image" Target="/ppt/media/image4.png" Id="R4390c810382a4c54" /><Relationship Type="http://schemas.openxmlformats.org/officeDocument/2006/relationships/notesSlide" Target="/ppt/notesSlides/notesSlide10.xml" Id="Re1c6daab78d640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b584ecff2c44731" /><Relationship Type="http://schemas.openxmlformats.org/officeDocument/2006/relationships/chart" Target="/ppt/slides/charts/chart1.xml" Id="Raa14a8ce79094bcf" /><Relationship Type="http://schemas.openxmlformats.org/officeDocument/2006/relationships/notesSlide" Target="/ppt/notesSlides/notesSlide11.xml" Id="Re1659bf473454a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f9eab33d90646fd" /><Relationship Type="http://schemas.openxmlformats.org/officeDocument/2006/relationships/image" Target="/ppt/media/image5.png" Id="Re0fddada84794d8d" /><Relationship Type="http://schemas.openxmlformats.org/officeDocument/2006/relationships/notesSlide" Target="/ppt/notesSlides/notesSlide12.xml" Id="R8cd7b1ff1d524fb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030d60912a447ab" /><Relationship Type="http://schemas.openxmlformats.org/officeDocument/2006/relationships/image" Target="/ppt/media/image6.png" Id="Re72a2f0497374d8e" /><Relationship Type="http://schemas.openxmlformats.org/officeDocument/2006/relationships/notesSlide" Target="/ppt/notesSlides/notesSlide13.xml" Id="R84d94a9ac44849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fc49fe01894ee3" /><Relationship Type="http://schemas.openxmlformats.org/officeDocument/2006/relationships/notesSlide" Target="/ppt/notesSlides/notesSlide14.xml" Id="R2d69776fdf0b4b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0dad1cce91b44d8" /><Relationship Type="http://schemas.openxmlformats.org/officeDocument/2006/relationships/notesSlide" Target="/ppt/notesSlides/notesSlide15.xml" Id="Rff804a27ffbf432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Passing checks out of 40</c:v>
          </c:tx>
          <c:spPr>
            <a:solidFill xmlns:a="http://schemas.openxmlformats.org/drawingml/2006/main">
              <a:srgbClr val="245DD8"/>
            </a:solidFill>
          </c:spPr>
          <c:cat>
            <c:strRef>
              <c:f>'Chart Data'!$A$2:$A$6</c:f>
              <c:strCache>
                <c:ptCount val="5"/>
                <c:pt idx="0">
                  <c:v>Run 01*</c:v>
                </c:pt>
                <c:pt idx="1">
                  <c:v>Run 02</c:v>
                </c:pt>
                <c:pt idx="2">
                  <c:v>Run 03</c:v>
                </c:pt>
                <c:pt idx="3">
                  <c:v>Run 04</c:v>
                </c:pt>
                <c:pt idx="4">
                  <c:v>Run 05</c:v>
                </c:pt>
              </c:strCache>
            </c:strRef>
          </c:cat>
          <c:val>
            <c:numRef>
              <c:f>'Chart Data'!$B$2:$B$6</c:f>
              <c:numCache>
                <c:formatCode>0</c:formatCode>
                <c:ptCount val="5"/>
                <c:pt idx="0">
                  <c:v>21</c:v>
                </c:pt>
                <c:pt idx="1">
                  <c:v>34</c:v>
                </c:pt>
                <c:pt idx="2">
                  <c:v>39</c:v>
                </c:pt>
                <c:pt idx="3">
                  <c:v>39</c:v>
                </c:pt>
                <c:pt idx="4">
                  <c:v>40</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42D50"/>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4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1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5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6355F4-CF45-4E27-91C0-E01EA2097EF8}"/>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F1 Race Strategist</a:t>
            </a:r>
          </a:p>
        </p:txBody>
      </p:sp>
      <p:sp>
        <p:nvSpPr>
          <p:cNvPr id="2" name="">
            <a:extLst xmlns:a="http://schemas.openxmlformats.org/drawingml/2006/main">
              <a:ext uri="{FF2B5EF4-FFF2-40B4-BE49-F238E27FC236}">
                <a16:creationId xmlns:a16="http://schemas.microsoft.com/office/drawing/2014/main" id="{16F51800-C716-4532-B1B4-75FACA0F4456}"/>
              </a:ext>
            </a:extLst>
          </p:cNvPr>
          <p:cNvSpPr>
            <a:spLocks xmlns:a="http://schemas.openxmlformats.org/drawingml/2006/main" noGrp="1"/>
          </p:cNvSpPr>
          <p:nvPr/>
        </p:nvSpPr>
        <p:spPr>
          <a:xfrm xmlns:a="http://schemas.openxmlformats.org/drawingml/2006/main">
            <a:off x="609600" y="1524000"/>
            <a:ext cx="10668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F1 RACE</a:t>
            </a:r>
          </a:p>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STRATEGIST</a:t>
            </a:r>
          </a:p>
        </p:txBody>
      </p:sp>
      <p:sp>
        <p:nvSpPr>
          <p:cNvPr id="3" name="">
            <a:extLst xmlns:a="http://schemas.openxmlformats.org/drawingml/2006/main">
              <a:ext uri="{FF2B5EF4-FFF2-40B4-BE49-F238E27FC236}">
                <a16:creationId xmlns:a16="http://schemas.microsoft.com/office/drawing/2014/main" id="{B71B4EED-203C-438B-BFE0-BC5993537CF0}"/>
              </a:ext>
            </a:extLst>
          </p:cNvPr>
          <p:cNvSpPr>
            <a:spLocks xmlns:a="http://schemas.openxmlformats.org/drawingml/2006/main" noGrp="1"/>
          </p:cNvSpPr>
          <p:nvPr/>
        </p:nvSpPr>
        <p:spPr>
          <a:xfrm xmlns:a="http://schemas.openxmlformats.org/drawingml/2006/main">
            <a:off x="647700" y="41910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8FC8FA"/>
                </a:solidFill>
                <a:latin typeface="Arial"/>
                <a:ea typeface="Arial"/>
                <a:cs typeface="Arial"/>
              </a:defRPr>
            </a:pPr>
            <a:r>
              <a:rPr sz="2550" b="0">
                <a:solidFill>
                  <a:srgbClr val="8FC8FA"/>
                </a:solidFill>
                <a:latin typeface="Arial"/>
                <a:ea typeface="Arial"/>
                <a:cs typeface="Arial"/>
              </a:rPr>
              <a:t>Interim project review</a:t>
            </a:r>
          </a:p>
        </p:txBody>
      </p:sp>
      <p:sp>
        <p:nvSpPr>
          <p:cNvPr id="4" name="">
            <a:extLst xmlns:a="http://schemas.openxmlformats.org/drawingml/2006/main">
              <a:ext uri="{FF2B5EF4-FFF2-40B4-BE49-F238E27FC236}">
                <a16:creationId xmlns:a16="http://schemas.microsoft.com/office/drawing/2014/main" id="{FD1B8EF7-CCE7-471A-9A68-9CC183E5C180}"/>
              </a:ext>
            </a:extLst>
          </p:cNvPr>
          <p:cNvSpPr>
            <a:spLocks xmlns:a="http://schemas.openxmlformats.org/drawingml/2006/main" noGrp="1"/>
          </p:cNvSpPr>
          <p:nvPr/>
        </p:nvSpPr>
        <p:spPr>
          <a:xfrm xmlns:a="http://schemas.openxmlformats.org/drawingml/2006/main">
            <a:off x="647700" y="53340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Rayyan  /  9 September 2026</a:t>
            </a:r>
          </a:p>
        </p:txBody>
      </p:sp>
    </p:spTree>
    <p:extLst>
      <p:ext uri="{BB962C8B-B14F-4D97-AF65-F5344CB8AC3E}">
        <p14:creationId xmlns:p14="http://schemas.microsoft.com/office/powerpoint/2010/main" val="428561460"/>
      </p:ext>
    </p:extLst>
  </p:cSld>
</p:sld>
</file>

<file path=ppt/slides/slide2.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0DF6943-C825-449F-9CDA-60DB1F69C834}"/>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Current implementation status</a:t>
            </a:r>
          </a:p>
        </p:txBody>
      </p:sp>
      <p:graphicFrame>
        <p:nvGraphicFramePr>
          <p:cNvPr id="5" name=""/>
          <p:cNvGraphicFramePr/>
          <p:nvPr/>
        </p:nvGraphicFramePr>
        <p:xfrm>
          <a:off xmlns:a="http://schemas.openxmlformats.org/drawingml/2006/main" x="609600" y="1581150"/>
          <a:ext xmlns:a="http://schemas.openxmlformats.org/drawingml/2006/main" cx="10972800" cy="3810000"/>
        </p:xfrm>
        <a:graphic xmlns:a="http://schemas.openxmlformats.org/drawingml/2006/main">
          <a:graphicData uri="http://schemas.openxmlformats.org/drawingml/2006/table">
            <a:tbl>
              <a:tblPr/>
              <a:tblGrid>
                <a:gridCol w="3238500"/>
                <a:gridCol w="2476500"/>
                <a:gridCol w="5257800"/>
              </a:tblGrid>
              <a:tr h="635000">
                <a:tc>
                  <a:txBody>
                    <a:bodyPr/>
                    <a:lstStyle/>
                    <a:p>
                      <a:r>
                        <a:rPr sz="1800" b="1">
                          <a:solidFill>
                            <a:srgbClr val="FFFFFF"/>
                          </a:solidFill>
                          <a:latin typeface="Arial"/>
                          <a:ea typeface="Arial"/>
                          <a:cs typeface="Arial"/>
                        </a:rPr>
                        <a:t>Workstream</a:t>
                      </a:r>
                    </a:p>
                  </a:txBody>
                  <a:tcPr marL="91440" marR="91440" marT="45720" marB="45720">
                    <a:solidFill>
                      <a:srgbClr val="142D50"/>
                    </a:solidFill>
                  </a:tcPr>
                </a:tc>
                <a:tc>
                  <a:txBody>
                    <a:bodyPr/>
                    <a:lstStyle/>
                    <a:p>
                      <a:r>
                        <a:rPr sz="1800" b="1">
                          <a:solidFill>
                            <a:srgbClr val="FFFFFF"/>
                          </a:solidFill>
                          <a:latin typeface="Arial"/>
                          <a:ea typeface="Arial"/>
                          <a:cs typeface="Arial"/>
                        </a:rPr>
                        <a:t>Status</a:t>
                      </a:r>
                    </a:p>
                  </a:txBody>
                  <a:tcPr marL="91440" marR="91440" marT="45720" marB="45720">
                    <a:solidFill>
                      <a:srgbClr val="142D50"/>
                    </a:solidFill>
                  </a:tcPr>
                </a:tc>
                <a:tc>
                  <a:txBody>
                    <a:bodyPr/>
                    <a:lstStyle/>
                    <a:p>
                      <a:r>
                        <a:rPr sz="1800" b="1">
                          <a:solidFill>
                            <a:srgbClr val="FFFFFF"/>
                          </a:solidFill>
                          <a:latin typeface="Arial"/>
                          <a:ea typeface="Arial"/>
                          <a:cs typeface="Arial"/>
                        </a:rPr>
                        <a:t>Evidence</a:t>
                      </a:r>
                    </a:p>
                  </a:txBody>
                  <a:tcPr marL="91440" marR="91440" marT="45720" marB="45720">
                    <a:solidFill>
                      <a:srgbClr val="142D50"/>
                    </a:solidFill>
                  </a:tcPr>
                </a:tc>
              </a:tr>
              <a:tr h="635000">
                <a:tc>
                  <a:txBody>
                    <a:bodyPr/>
                    <a:lstStyle/>
                    <a:p>
                      <a:r>
                        <a:rPr sz="1800" b="0">
                          <a:solidFill>
                            <a:srgbClr val="142D50"/>
                          </a:solidFill>
                          <a:latin typeface="Arial"/>
                          <a:ea typeface="Arial"/>
                          <a:cs typeface="Arial"/>
                        </a:rPr>
                        <a:t>Data and API</a:t>
                      </a:r>
                    </a:p>
                  </a:txBody>
                  <a:tcPr marL="91440" marR="91440" marT="45720" marB="45720">
                    <a:solidFill>
                      <a:srgbClr val="FFFFFF"/>
                    </a:solidFill>
                  </a:tcPr>
                </a:tc>
                <a:tc>
                  <a:txBody>
                    <a:bodyPr/>
                    <a:lstStyle/>
                    <a:p>
                      <a:r>
                        <a:rPr sz="1800" b="0">
                          <a:solidFill>
                            <a:srgbClr val="142D50"/>
                          </a:solidFill>
                          <a:latin typeface="Arial"/>
                          <a:ea typeface="Arial"/>
                          <a:cs typeface="Arial"/>
                        </a:rPr>
                        <a:t>Verified locally</a:t>
                      </a:r>
                    </a:p>
                  </a:txBody>
                  <a:tcPr marL="91440" marR="91440" marT="45720" marB="45720">
                    <a:solidFill>
                      <a:srgbClr val="FFFFFF"/>
                    </a:solidFill>
                  </a:tcPr>
                </a:tc>
                <a:tc>
                  <a:txBody>
                    <a:bodyPr/>
                    <a:lstStyle/>
                    <a:p>
                      <a:r>
                        <a:rPr sz="1800" b="0">
                          <a:solidFill>
                            <a:srgbClr val="142D50"/>
                          </a:solidFill>
                          <a:latin typeface="Arial"/>
                          <a:ea typeface="Arial"/>
                          <a:cs typeface="Arial"/>
                        </a:rPr>
                        <a:t>14 tables, SQLite and PostgreSQL</a:t>
                      </a:r>
                    </a:p>
                  </a:txBody>
                  <a:tcPr marL="91440" marR="91440" marT="45720" marB="45720">
                    <a:solidFill>
                      <a:srgbClr val="FFFFFF"/>
                    </a:solidFill>
                  </a:tcPr>
                </a:tc>
              </a:tr>
              <a:tr h="635000">
                <a:tc>
                  <a:txBody>
                    <a:bodyPr/>
                    <a:lstStyle/>
                    <a:p>
                      <a:r>
                        <a:rPr sz="1800" b="0">
                          <a:solidFill>
                            <a:srgbClr val="142D50"/>
                          </a:solidFill>
                          <a:latin typeface="Arial"/>
                          <a:ea typeface="Arial"/>
                          <a:cs typeface="Arial"/>
                        </a:rPr>
                        <a:t>React dashboard and chat</a:t>
                      </a:r>
                    </a:p>
                  </a:txBody>
                  <a:tcPr marL="91440" marR="91440" marT="45720" marB="45720">
                    <a:solidFill>
                      <a:srgbClr val="E9EFF7"/>
                    </a:solidFill>
                  </a:tcPr>
                </a:tc>
                <a:tc>
                  <a:txBody>
                    <a:bodyPr/>
                    <a:lstStyle/>
                    <a:p>
                      <a:r>
                        <a:rPr sz="1800" b="0">
                          <a:solidFill>
                            <a:srgbClr val="142D50"/>
                          </a:solidFill>
                          <a:latin typeface="Arial"/>
                          <a:ea typeface="Arial"/>
                          <a:cs typeface="Arial"/>
                        </a:rPr>
                        <a:t>Verified locally</a:t>
                      </a:r>
                    </a:p>
                  </a:txBody>
                  <a:tcPr marL="91440" marR="91440" marT="45720" marB="45720">
                    <a:solidFill>
                      <a:srgbClr val="E9EFF7"/>
                    </a:solidFill>
                  </a:tcPr>
                </a:tc>
                <a:tc>
                  <a:txBody>
                    <a:bodyPr/>
                    <a:lstStyle/>
                    <a:p>
                      <a:r>
                        <a:rPr sz="1800" b="0">
                          <a:solidFill>
                            <a:srgbClr val="142D50"/>
                          </a:solidFill>
                          <a:latin typeface="Arial"/>
                          <a:ea typeface="Arial"/>
                          <a:cs typeface="Arial"/>
                        </a:rPr>
                        <a:t>Real API data and browser checks</a:t>
                      </a:r>
                    </a:p>
                  </a:txBody>
                  <a:tcPr marL="91440" marR="91440" marT="45720" marB="45720">
                    <a:solidFill>
                      <a:srgbClr val="E9EFF7"/>
                    </a:solidFill>
                  </a:tcPr>
                </a:tc>
              </a:tr>
              <a:tr h="635000">
                <a:tc>
                  <a:txBody>
                    <a:bodyPr/>
                    <a:lstStyle/>
                    <a:p>
                      <a:r>
                        <a:rPr sz="1800" b="0">
                          <a:solidFill>
                            <a:srgbClr val="142D50"/>
                          </a:solidFill>
                          <a:latin typeface="Arial"/>
                          <a:ea typeface="Arial"/>
                          <a:cs typeface="Arial"/>
                        </a:rPr>
                        <a:t>ML and explanations</a:t>
                      </a:r>
                    </a:p>
                  </a:txBody>
                  <a:tcPr marL="91440" marR="91440" marT="45720" marB="45720">
                    <a:solidFill>
                      <a:srgbClr val="FFFFFF"/>
                    </a:solidFill>
                  </a:tcPr>
                </a:tc>
                <a:tc>
                  <a:txBody>
                    <a:bodyPr/>
                    <a:lstStyle/>
                    <a:p>
                      <a:r>
                        <a:rPr sz="1800" b="0">
                          <a:solidFill>
                            <a:srgbClr val="142D50"/>
                          </a:solidFill>
                          <a:latin typeface="Arial"/>
                          <a:ea typeface="Arial"/>
                          <a:cs typeface="Arial"/>
                        </a:rPr>
                        <a:t>Verified</a:t>
                      </a:r>
                    </a:p>
                  </a:txBody>
                  <a:tcPr marL="91440" marR="91440" marT="45720" marB="45720">
                    <a:solidFill>
                      <a:srgbClr val="FFFFFF"/>
                    </a:solidFill>
                  </a:tcPr>
                </a:tc>
                <a:tc>
                  <a:txBody>
                    <a:bodyPr/>
                    <a:lstStyle/>
                    <a:p>
                      <a:r>
                        <a:rPr sz="1800" b="0">
                          <a:solidFill>
                            <a:srgbClr val="142D50"/>
                          </a:solidFill>
                          <a:latin typeface="Arial"/>
                          <a:ea typeface="Arial"/>
                          <a:cs typeface="Arial"/>
                        </a:rPr>
                        <a:t>Temporal evaluation and SHAP</a:t>
                      </a:r>
                    </a:p>
                  </a:txBody>
                  <a:tcPr marL="91440" marR="91440" marT="45720" marB="45720">
                    <a:solidFill>
                      <a:srgbClr val="FFFFFF"/>
                    </a:solidFill>
                  </a:tcPr>
                </a:tc>
              </a:tr>
              <a:tr h="635000">
                <a:tc>
                  <a:txBody>
                    <a:bodyPr/>
                    <a:lstStyle/>
                    <a:p>
                      <a:r>
                        <a:rPr sz="1800" b="0">
                          <a:solidFill>
                            <a:srgbClr val="142D50"/>
                          </a:solidFill>
                          <a:latin typeface="Arial"/>
                          <a:ea typeface="Arial"/>
                          <a:cs typeface="Arial"/>
                        </a:rPr>
                        <a:t>Testing and CI</a:t>
                      </a:r>
                    </a:p>
                  </a:txBody>
                  <a:tcPr marL="91440" marR="91440" marT="45720" marB="45720">
                    <a:solidFill>
                      <a:srgbClr val="E9EFF7"/>
                    </a:solidFill>
                  </a:tcPr>
                </a:tc>
                <a:tc>
                  <a:txBody>
                    <a:bodyPr/>
                    <a:lstStyle/>
                    <a:p>
                      <a:r>
                        <a:rPr sz="1800" b="0">
                          <a:solidFill>
                            <a:srgbClr val="142D50"/>
                          </a:solidFill>
                          <a:latin typeface="Arial"/>
                          <a:ea typeface="Arial"/>
                          <a:cs typeface="Arial"/>
                        </a:rPr>
                        <a:t>Passing</a:t>
                      </a:r>
                    </a:p>
                  </a:txBody>
                  <a:tcPr marL="91440" marR="91440" marT="45720" marB="45720">
                    <a:solidFill>
                      <a:srgbClr val="E9EFF7"/>
                    </a:solidFill>
                  </a:tcPr>
                </a:tc>
                <a:tc>
                  <a:txBody>
                    <a:bodyPr/>
                    <a:lstStyle/>
                    <a:p>
                      <a:r>
                        <a:rPr sz="1800" b="0">
                          <a:solidFill>
                            <a:srgbClr val="142D50"/>
                          </a:solidFill>
                          <a:latin typeface="Arial"/>
                          <a:ea typeface="Arial"/>
                          <a:cs typeface="Arial"/>
                        </a:rPr>
                        <a:t>Python, frontend and Terraform</a:t>
                      </a:r>
                    </a:p>
                  </a:txBody>
                  <a:tcPr marL="91440" marR="91440" marT="45720" marB="45720">
                    <a:solidFill>
                      <a:srgbClr val="E9EFF7"/>
                    </a:solidFill>
                  </a:tcPr>
                </a:tc>
              </a:tr>
              <a:tr h="635000">
                <a:tc>
                  <a:txBody>
                    <a:bodyPr/>
                    <a:lstStyle/>
                    <a:p>
                      <a:r>
                        <a:rPr sz="1800" b="0">
                          <a:solidFill>
                            <a:srgbClr val="142D50"/>
                          </a:solidFill>
                          <a:latin typeface="Arial"/>
                          <a:ea typeface="Arial"/>
                          <a:cs typeface="Arial"/>
                        </a:rPr>
                        <a:t>AWS public deployment</a:t>
                      </a:r>
                    </a:p>
                  </a:txBody>
                  <a:tcPr marL="91440" marR="91440" marT="45720" marB="45720">
                    <a:solidFill>
                      <a:srgbClr val="FFFFFF"/>
                    </a:solidFill>
                  </a:tcPr>
                </a:tc>
                <a:tc>
                  <a:txBody>
                    <a:bodyPr/>
                    <a:lstStyle/>
                    <a:p>
                      <a:r>
                        <a:rPr sz="1800" b="0">
                          <a:solidFill>
                            <a:srgbClr val="142D50"/>
                          </a:solidFill>
                          <a:latin typeface="Arial"/>
                          <a:ea typeface="Arial"/>
                          <a:cs typeface="Arial"/>
                        </a:rPr>
                        <a:t>In progress</a:t>
                      </a:r>
                    </a:p>
                  </a:txBody>
                  <a:tcPr marL="91440" marR="91440" marT="45720" marB="45720">
                    <a:solidFill>
                      <a:srgbClr val="FFFFFF"/>
                    </a:solidFill>
                  </a:tcPr>
                </a:tc>
                <a:tc>
                  <a:txBody>
                    <a:bodyPr/>
                    <a:lstStyle/>
                    <a:p>
                      <a:r>
                        <a:rPr sz="1800" b="0">
                          <a:solidFill>
                            <a:srgbClr val="142D50"/>
                          </a:solidFill>
                          <a:latin typeface="Arial"/>
                          <a:ea typeface="Arial"/>
                          <a:cs typeface="Arial"/>
                        </a:rPr>
                        <a:t>Account restrictions, Lightsail alternative</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B0C636C-D08D-4AC2-B3DB-B30B7A1E36DE}"/>
              </a:ext>
            </a:extLst>
          </p:cNvPr>
          <p:cNvSpPr>
            <a:spLocks xmlns:a="http://schemas.openxmlformats.org/drawingml/2006/main" noGrp="1"/>
          </p:cNvSpPr>
          <p:nvPr/>
        </p:nvSpPr>
        <p:spPr>
          <a:xfrm xmlns:a="http://schemas.openxmlformats.org/drawingml/2006/main">
            <a:off x="609600" y="57816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This review separates completed engineering from remaining deployment work.</a:t>
            </a:r>
          </a:p>
        </p:txBody>
      </p:sp>
    </p:spTree>
    <p:extLst>
      <p:ext uri="{BB962C8B-B14F-4D97-AF65-F5344CB8AC3E}">
        <p14:creationId xmlns:p14="http://schemas.microsoft.com/office/powerpoint/2010/main" val="1652440708"/>
      </p:ext>
    </p:extLst>
  </p:cSld>
</p:sld>
</file>

<file path=ppt/slides/slide3.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2C2CDC3-8281-4C6C-A3D1-564910EA9AD6}"/>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Verified dataset coverage</a:t>
            </a:r>
          </a:p>
        </p:txBody>
      </p:sp>
      <p:sp>
        <p:nvSpPr>
          <p:cNvPr id="2" name="">
            <a:extLst xmlns:a="http://schemas.openxmlformats.org/drawingml/2006/main">
              <a:ext uri="{FF2B5EF4-FFF2-40B4-BE49-F238E27FC236}">
                <a16:creationId xmlns:a16="http://schemas.microsoft.com/office/drawing/2014/main" id="{42DD083D-0907-40D6-95E0-25A39FF05A9B}"/>
              </a:ext>
            </a:extLst>
          </p:cNvPr>
          <p:cNvSpPr>
            <a:spLocks xmlns:a="http://schemas.openxmlformats.org/drawingml/2006/main" noGrp="1"/>
          </p:cNvSpPr>
          <p:nvPr/>
        </p:nvSpPr>
        <p:spPr>
          <a:xfrm xmlns:a="http://schemas.openxmlformats.org/drawingml/2006/main">
            <a:off x="609600" y="15335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45DD8"/>
                </a:solidFill>
                <a:latin typeface="Arial"/>
                <a:ea typeface="Arial"/>
                <a:cs typeface="Arial"/>
              </a:defRPr>
            </a:pPr>
            <a:r>
              <a:rPr sz="2850" b="1">
                <a:solidFill>
                  <a:srgbClr val="245DD8"/>
                </a:solidFill>
                <a:latin typeface="Arial"/>
                <a:ea typeface="Arial"/>
                <a:cs typeface="Arial"/>
              </a:rPr>
              <a:t>701,433 rows across 14 relational tables</a:t>
            </a:r>
          </a:p>
        </p:txBody>
      </p:sp>
      <p:graphicFrame>
        <p:nvGraphicFramePr>
          <p:cNvPr id="6" name=""/>
          <p:cNvGraphicFramePr/>
          <p:nvPr/>
        </p:nvGraphicFramePr>
        <p:xfrm>
          <a:off xmlns:a="http://schemas.openxmlformats.org/drawingml/2006/main" x="609600" y="2514600"/>
          <a:ext xmlns:a="http://schemas.openxmlformats.org/drawingml/2006/main" cx="10972800" cy="3048000"/>
        </p:xfrm>
        <a:graphic xmlns:a="http://schemas.openxmlformats.org/drawingml/2006/main">
          <a:graphicData uri="http://schemas.openxmlformats.org/drawingml/2006/table">
            <a:tbl>
              <a:tblPr/>
              <a:tblGrid>
                <a:gridCol w="3524250"/>
                <a:gridCol w="7448550"/>
              </a:tblGrid>
              <a:tr h="508000">
                <a:tc>
                  <a:txBody>
                    <a:bodyPr/>
                    <a:lstStyle/>
                    <a:p>
                      <a:r>
                        <a:rPr sz="1800" b="1">
                          <a:solidFill>
                            <a:srgbClr val="FFFFFF"/>
                          </a:solidFill>
                          <a:latin typeface="Arial"/>
                          <a:ea typeface="Arial"/>
                          <a:cs typeface="Arial"/>
                        </a:rPr>
                        <a:t>Coverage</a:t>
                      </a:r>
                    </a:p>
                  </a:txBody>
                  <a:tcPr marL="91440" marR="91440" marT="45720" marB="45720">
                    <a:solidFill>
                      <a:srgbClr val="142D50"/>
                    </a:solidFill>
                  </a:tcPr>
                </a:tc>
                <a:tc>
                  <a:txBody>
                    <a:bodyPr/>
                    <a:lstStyle/>
                    <a:p>
                      <a:r>
                        <a:rPr sz="1800" b="1">
                          <a:solidFill>
                            <a:srgbClr val="FFFFFF"/>
                          </a:solidFill>
                          <a:latin typeface="Arial"/>
                          <a:ea typeface="Arial"/>
                          <a:cs typeface="Arial"/>
                        </a:rPr>
                        <a:t>Verified result</a:t>
                      </a:r>
                    </a:p>
                  </a:txBody>
                  <a:tcPr marL="91440" marR="91440" marT="45720" marB="45720">
                    <a:solidFill>
                      <a:srgbClr val="142D50"/>
                    </a:solidFill>
                  </a:tcPr>
                </a:tc>
              </a:tr>
              <a:tr h="508000">
                <a:tc>
                  <a:txBody>
                    <a:bodyPr/>
                    <a:lstStyle/>
                    <a:p>
                      <a:r>
                        <a:rPr sz="1800" b="0">
                          <a:solidFill>
                            <a:srgbClr val="142D50"/>
                          </a:solidFill>
                          <a:latin typeface="Arial"/>
                          <a:ea typeface="Arial"/>
                          <a:cs typeface="Arial"/>
                        </a:rPr>
                        <a:t>Historical archive</a:t>
                      </a:r>
                    </a:p>
                  </a:txBody>
                  <a:tcPr marL="91440" marR="91440" marT="45720" marB="45720">
                    <a:solidFill>
                      <a:srgbClr val="FFFFFF"/>
                    </a:solidFill>
                  </a:tcPr>
                </a:tc>
                <a:tc>
                  <a:txBody>
                    <a:bodyPr/>
                    <a:lstStyle/>
                    <a:p>
                      <a:r>
                        <a:rPr sz="1800" b="0">
                          <a:solidFill>
                            <a:srgbClr val="142D50"/>
                          </a:solidFill>
                          <a:latin typeface="Arial"/>
                          <a:ea typeface="Arial"/>
                          <a:cs typeface="Arial"/>
                        </a:rPr>
                        <a:t>1950–2024, 75 seasons</a:t>
                      </a:r>
                    </a:p>
                  </a:txBody>
                  <a:tcPr marL="91440" marR="91440" marT="45720" marB="45720">
                    <a:solidFill>
                      <a:srgbClr val="FFFFFF"/>
                    </a:solidFill>
                  </a:tcPr>
                </a:tc>
              </a:tr>
              <a:tr h="508000">
                <a:tc>
                  <a:txBody>
                    <a:bodyPr/>
                    <a:lstStyle/>
                    <a:p>
                      <a:r>
                        <a:rPr sz="1800" b="0">
                          <a:solidFill>
                            <a:srgbClr val="142D50"/>
                          </a:solidFill>
                          <a:latin typeface="Arial"/>
                          <a:ea typeface="Arial"/>
                          <a:cs typeface="Arial"/>
                        </a:rPr>
                        <a:t>Core entities</a:t>
                      </a:r>
                    </a:p>
                  </a:txBody>
                  <a:tcPr marL="91440" marR="91440" marT="45720" marB="45720">
                    <a:solidFill>
                      <a:srgbClr val="E9EFF7"/>
                    </a:solidFill>
                  </a:tcPr>
                </a:tc>
                <a:tc>
                  <a:txBody>
                    <a:bodyPr/>
                    <a:lstStyle/>
                    <a:p>
                      <a:r>
                        <a:rPr sz="1800" b="0">
                          <a:solidFill>
                            <a:srgbClr val="142D50"/>
                          </a:solidFill>
                          <a:latin typeface="Arial"/>
                          <a:ea typeface="Arial"/>
                          <a:cs typeface="Arial"/>
                        </a:rPr>
                        <a:t>1,125 races, 861 drivers, 212 constructors</a:t>
                      </a:r>
                    </a:p>
                  </a:txBody>
                  <a:tcPr marL="91440" marR="91440" marT="45720" marB="45720">
                    <a:solidFill>
                      <a:srgbClr val="E9EFF7"/>
                    </a:solidFill>
                  </a:tcPr>
                </a:tc>
              </a:tr>
              <a:tr h="508000">
                <a:tc>
                  <a:txBody>
                    <a:bodyPr/>
                    <a:lstStyle/>
                    <a:p>
                      <a:r>
                        <a:rPr sz="1800" b="0">
                          <a:solidFill>
                            <a:srgbClr val="142D50"/>
                          </a:solidFill>
                          <a:latin typeface="Arial"/>
                          <a:ea typeface="Arial"/>
                          <a:cs typeface="Arial"/>
                        </a:rPr>
                        <a:t>Timing detail</a:t>
                      </a:r>
                    </a:p>
                  </a:txBody>
                  <a:tcPr marL="91440" marR="91440" marT="45720" marB="45720">
                    <a:solidFill>
                      <a:srgbClr val="FFFFFF"/>
                    </a:solidFill>
                  </a:tcPr>
                </a:tc>
                <a:tc>
                  <a:txBody>
                    <a:bodyPr/>
                    <a:lstStyle/>
                    <a:p>
                      <a:r>
                        <a:rPr sz="1800" b="0">
                          <a:solidFill>
                            <a:srgbClr val="142D50"/>
                          </a:solidFill>
                          <a:latin typeface="Arial"/>
                          <a:ea typeface="Arial"/>
                          <a:cs typeface="Arial"/>
                        </a:rPr>
                        <a:t>Lap data begins 1996, pit stops begin 2011</a:t>
                      </a:r>
                    </a:p>
                  </a:txBody>
                  <a:tcPr marL="91440" marR="91440" marT="45720" marB="45720">
                    <a:solidFill>
                      <a:srgbClr val="FFFFFF"/>
                    </a:solidFill>
                  </a:tcPr>
                </a:tc>
              </a:tr>
              <a:tr h="508000">
                <a:tc>
                  <a:txBody>
                    <a:bodyPr/>
                    <a:lstStyle/>
                    <a:p>
                      <a:r>
                        <a:rPr sz="1800" b="0">
                          <a:solidFill>
                            <a:srgbClr val="142D50"/>
                          </a:solidFill>
                          <a:latin typeface="Arial"/>
                          <a:ea typeface="Arial"/>
                          <a:cs typeface="Arial"/>
                        </a:rPr>
                        <a:t>Sprint coverage</a:t>
                      </a:r>
                    </a:p>
                  </a:txBody>
                  <a:tcPr marL="91440" marR="91440" marT="45720" marB="45720">
                    <a:solidFill>
                      <a:srgbClr val="E9EFF7"/>
                    </a:solidFill>
                  </a:tcPr>
                </a:tc>
                <a:tc>
                  <a:txBody>
                    <a:bodyPr/>
                    <a:lstStyle/>
                    <a:p>
                      <a:r>
                        <a:rPr sz="1800" b="0">
                          <a:solidFill>
                            <a:srgbClr val="142D50"/>
                          </a:solidFill>
                          <a:latin typeface="Arial"/>
                          <a:ea typeface="Arial"/>
                          <a:cs typeface="Arial"/>
                        </a:rPr>
                        <a:t>Sprint results begin 2021</a:t>
                      </a:r>
                    </a:p>
                  </a:txBody>
                  <a:tcPr marL="91440" marR="91440" marT="45720" marB="45720">
                    <a:solidFill>
                      <a:srgbClr val="E9EFF7"/>
                    </a:solidFill>
                  </a:tcPr>
                </a:tc>
              </a:tr>
              <a:tr h="508000">
                <a:tc>
                  <a:txBody>
                    <a:bodyPr/>
                    <a:lstStyle/>
                    <a:p>
                      <a:r>
                        <a:rPr sz="1800" b="0">
                          <a:solidFill>
                            <a:srgbClr val="142D50"/>
                          </a:solidFill>
                          <a:latin typeface="Arial"/>
                          <a:ea typeface="Arial"/>
                          <a:cs typeface="Arial"/>
                        </a:rPr>
                        <a:t>Unavailable inputs</a:t>
                      </a:r>
                    </a:p>
                  </a:txBody>
                  <a:tcPr marL="91440" marR="91440" marT="45720" marB="45720">
                    <a:solidFill>
                      <a:srgbClr val="FFFFFF"/>
                    </a:solidFill>
                  </a:tcPr>
                </a:tc>
                <a:tc>
                  <a:txBody>
                    <a:bodyPr/>
                    <a:lstStyle/>
                    <a:p>
                      <a:r>
                        <a:rPr sz="1800" b="0">
                          <a:solidFill>
                            <a:srgbClr val="142D50"/>
                          </a:solidFill>
                          <a:latin typeface="Arial"/>
                          <a:ea typeface="Arial"/>
                          <a:cs typeface="Arial"/>
                        </a:rPr>
                        <a:t>Weather, tyres, fuel and telemetry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67662376"/>
      </p:ext>
    </p:extLst>
  </p:cSld>
</p:sld>
</file>

<file path=ppt/slides/slide4.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EAB734-73A4-40F7-B8BC-B946109FBEE6}"/>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Data and application architecture</a:t>
            </a:r>
          </a:p>
        </p:txBody>
      </p:sp>
      <p:sp>
        <p:nvSpPr>
          <p:cNvPr id="2" name="">
            <a:extLst xmlns:a="http://schemas.openxmlformats.org/drawingml/2006/main">
              <a:ext uri="{FF2B5EF4-FFF2-40B4-BE49-F238E27FC236}">
                <a16:creationId xmlns:a16="http://schemas.microsoft.com/office/drawing/2014/main" id="{56F142C5-5362-4201-85A1-9B879B884B19}"/>
              </a:ext>
            </a:extLst>
          </p:cNvPr>
          <p:cNvSpPr>
            <a:spLocks xmlns:a="http://schemas.openxmlformats.org/drawingml/2006/main" noGrp="1"/>
          </p:cNvSpPr>
          <p:nvPr/>
        </p:nvSpPr>
        <p:spPr>
          <a:xfrm xmlns:a="http://schemas.openxmlformats.org/drawingml/2006/main">
            <a:off x="609600" y="15716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CSV audit and transactional ingestion establish the relational source.</a:t>
            </a:r>
          </a:p>
        </p:txBody>
      </p:sp>
      <p:sp>
        <p:nvSpPr>
          <p:cNvPr id="3" name="">
            <a:extLst xmlns:a="http://schemas.openxmlformats.org/drawingml/2006/main">
              <a:ext uri="{FF2B5EF4-FFF2-40B4-BE49-F238E27FC236}">
                <a16:creationId xmlns:a16="http://schemas.microsoft.com/office/drawing/2014/main" id="{59CFDAC2-B58E-4B00-81DC-B3382058EF45}"/>
              </a:ext>
            </a:extLst>
          </p:cNvPr>
          <p:cNvSpPr>
            <a:spLocks xmlns:a="http://schemas.openxmlformats.org/drawingml/2006/main" noGrp="1"/>
          </p:cNvSpPr>
          <p:nvPr/>
        </p:nvSpPr>
        <p:spPr>
          <a:xfrm xmlns:a="http://schemas.openxmlformats.org/drawingml/2006/main">
            <a:off x="609600" y="24669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FastAPI services expose standings, races and competitor profiles.</a:t>
            </a:r>
          </a:p>
        </p:txBody>
      </p:sp>
      <p:sp>
        <p:nvSpPr>
          <p:cNvPr id="4" name="">
            <a:extLst xmlns:a="http://schemas.openxmlformats.org/drawingml/2006/main">
              <a:ext uri="{FF2B5EF4-FFF2-40B4-BE49-F238E27FC236}">
                <a16:creationId xmlns:a16="http://schemas.microsoft.com/office/drawing/2014/main" id="{54FF966B-D770-45DE-A1E7-CCB8FDABB294}"/>
              </a:ext>
            </a:extLst>
          </p:cNvPr>
          <p:cNvSpPr>
            <a:spLocks xmlns:a="http://schemas.openxmlformats.org/drawingml/2006/main" noGrp="1"/>
          </p:cNvSpPr>
          <p:nvPr/>
        </p:nvSpPr>
        <p:spPr>
          <a:xfrm xmlns:a="http://schemas.openxmlformats.org/drawingml/2006/main">
            <a:off x="609600" y="33623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A chronological feature pipeline supplies the frozen podium model.</a:t>
            </a:r>
          </a:p>
        </p:txBody>
      </p:sp>
      <p:sp>
        <p:nvSpPr>
          <p:cNvPr id="5" name="">
            <a:extLst xmlns:a="http://schemas.openxmlformats.org/drawingml/2006/main">
              <a:ext uri="{FF2B5EF4-FFF2-40B4-BE49-F238E27FC236}">
                <a16:creationId xmlns:a16="http://schemas.microsoft.com/office/drawing/2014/main" id="{4C316E04-3AC3-43AC-BF38-C4BBA2683BF3}"/>
              </a:ext>
            </a:extLst>
          </p:cNvPr>
          <p:cNvSpPr>
            <a:spLocks xmlns:a="http://schemas.openxmlformats.org/drawingml/2006/main" noGrp="1"/>
          </p:cNvSpPr>
          <p:nvPr/>
        </p:nvSpPr>
        <p:spPr>
          <a:xfrm xmlns:a="http://schemas.openxmlformats.org/drawingml/2006/main">
            <a:off x="609600" y="42576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Bedrock routes questions to read-only SQL or model inference.</a:t>
            </a:r>
          </a:p>
        </p:txBody>
      </p:sp>
      <p:sp>
        <p:nvSpPr>
          <p:cNvPr id="6" name="">
            <a:extLst xmlns:a="http://schemas.openxmlformats.org/drawingml/2006/main">
              <a:ext uri="{FF2B5EF4-FFF2-40B4-BE49-F238E27FC236}">
                <a16:creationId xmlns:a16="http://schemas.microsoft.com/office/drawing/2014/main" id="{A862C1A2-255E-4964-99B8-38AF8E65D3FE}"/>
              </a:ext>
            </a:extLst>
          </p:cNvPr>
          <p:cNvSpPr>
            <a:spLocks xmlns:a="http://schemas.openxmlformats.org/drawingml/2006/main" noGrp="1"/>
          </p:cNvSpPr>
          <p:nvPr/>
        </p:nvSpPr>
        <p:spPr>
          <a:xfrm xmlns:a="http://schemas.openxmlformats.org/drawingml/2006/main">
            <a:off x="609600" y="51530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React displays actual rows, probabilities and explanations.</a:t>
            </a:r>
          </a:p>
        </p:txBody>
      </p:sp>
    </p:spTree>
    <p:extLst>
      <p:ext uri="{BB962C8B-B14F-4D97-AF65-F5344CB8AC3E}">
        <p14:creationId xmlns:p14="http://schemas.microsoft.com/office/powerpoint/2010/main" val="135552778"/>
      </p:ext>
    </p:extLst>
  </p:cSld>
</p:sld>
</file>

<file path=ppt/slides/slide5.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0308FB4-C868-4658-8F40-1A5FF0419051}"/>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Season dashboard</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73b880b1ece4f9e"/>
          <a:stretch xmlns:a="http://schemas.openxmlformats.org/drawingml/2006/main"/>
        </p:blipFill>
        <p:spPr>
          <a:xfrm xmlns:a="http://schemas.openxmlformats.org/drawingml/2006/main">
            <a:off x="1569744" y="1495425"/>
            <a:ext cx="9052512" cy="4476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B625E11-6E6B-4559-96A8-4DC6583D5B5F}"/>
              </a:ext>
            </a:extLst>
          </p:cNvPr>
          <p:cNvSpPr>
            <a:spLocks xmlns:a="http://schemas.openxmlformats.org/drawingml/2006/main" noGrp="1"/>
          </p:cNvSpPr>
          <p:nvPr/>
        </p:nvSpPr>
        <p:spPr>
          <a:xfrm xmlns:a="http://schemas.openxmlformats.org/drawingml/2006/main">
            <a:off x="609600" y="61055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Season selection, recorded standings and race navigation use the real backend.</a:t>
            </a:r>
          </a:p>
        </p:txBody>
      </p:sp>
    </p:spTree>
    <p:extLst>
      <p:ext uri="{BB962C8B-B14F-4D97-AF65-F5344CB8AC3E}">
        <p14:creationId xmlns:p14="http://schemas.microsoft.com/office/powerpoint/2010/main" val="1005065144"/>
      </p:ext>
    </p:extLst>
  </p:cSld>
</p:sld>
</file>

<file path=ppt/slides/slide6.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DA6CDD0-3E29-4235-8DBF-776B8E818BE9}"/>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Race weekend and driver analysis</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b200b5ae69c464a"/>
          <a:stretch xmlns:a="http://schemas.openxmlformats.org/drawingml/2006/main"/>
        </p:blipFill>
        <p:spPr>
          <a:xfrm xmlns:a="http://schemas.openxmlformats.org/drawingml/2006/main">
            <a:off x="1569744" y="1495425"/>
            <a:ext cx="9052512" cy="4476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C450E43-6DC7-496E-A7D9-A4460734B392}"/>
              </a:ext>
            </a:extLst>
          </p:cNvPr>
          <p:cNvSpPr>
            <a:spLocks xmlns:a="http://schemas.openxmlformats.org/drawingml/2006/main" noGrp="1"/>
          </p:cNvSpPr>
          <p:nvPr/>
        </p:nvSpPr>
        <p:spPr>
          <a:xfrm xmlns:a="http://schemas.openxmlformats.org/drawingml/2006/main">
            <a:off x="609600" y="61055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Qualifying, grid, results and profiles remain separate historical views.</a:t>
            </a:r>
          </a:p>
        </p:txBody>
      </p:sp>
    </p:spTree>
    <p:extLst>
      <p:ext uri="{BB962C8B-B14F-4D97-AF65-F5344CB8AC3E}">
        <p14:creationId xmlns:p14="http://schemas.microsoft.com/office/powerpoint/2010/main" val="1584488410"/>
      </p:ext>
    </p:extLst>
  </p:cSld>
</p:sld>
</file>

<file path=ppt/slides/slide7.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AB096B-4B0B-481D-8C9D-4405808EEF66}"/>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Podium probabilities and explanations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41307c7d963484c"/>
          <a:stretch xmlns:a="http://schemas.openxmlformats.org/drawingml/2006/main"/>
        </p:blipFill>
        <p:spPr>
          <a:xfrm xmlns:a="http://schemas.openxmlformats.org/drawingml/2006/main">
            <a:off x="1066800" y="1390650"/>
            <a:ext cx="7848600" cy="49053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D794CE8-3C7A-45B7-8E9B-046EFB1DA2FC}"/>
              </a:ext>
            </a:extLst>
          </p:cNvPr>
          <p:cNvSpPr>
            <a:spLocks xmlns:a="http://schemas.openxmlformats.org/drawingml/2006/main" noGrp="1"/>
          </p:cNvSpPr>
          <p:nvPr/>
        </p:nvSpPr>
        <p:spPr>
          <a:xfrm xmlns:a="http://schemas.openxmlformats.org/drawingml/2006/main">
            <a:off x="9601200" y="18097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45DD8"/>
                </a:solidFill>
                <a:latin typeface="Arial"/>
                <a:ea typeface="Arial"/>
                <a:cs typeface="Arial"/>
              </a:defRPr>
            </a:pPr>
            <a:r>
              <a:rPr sz="3900" b="1">
                <a:solidFill>
                  <a:srgbClr val="245DD8"/>
                </a:solidFill>
                <a:latin typeface="Arial"/>
                <a:ea typeface="Arial"/>
                <a:cs typeface="Arial"/>
              </a:rPr>
              <a:t>76.4%</a:t>
            </a:r>
          </a:p>
        </p:txBody>
      </p:sp>
      <p:sp>
        <p:nvSpPr>
          <p:cNvPr id="4" name="">
            <a:extLst xmlns:a="http://schemas.openxmlformats.org/drawingml/2006/main">
              <a:ext uri="{FF2B5EF4-FFF2-40B4-BE49-F238E27FC236}">
                <a16:creationId xmlns:a16="http://schemas.microsoft.com/office/drawing/2014/main" id="{68E0BD09-7290-4A31-AD97-A4251EAC219B}"/>
              </a:ext>
            </a:extLst>
          </p:cNvPr>
          <p:cNvSpPr>
            <a:spLocks xmlns:a="http://schemas.openxmlformats.org/drawingml/2006/main" noGrp="1"/>
          </p:cNvSpPr>
          <p:nvPr/>
        </p:nvSpPr>
        <p:spPr>
          <a:xfrm xmlns:a="http://schemas.openxmlformats.org/drawingml/2006/main">
            <a:off x="9601200" y="2667000"/>
            <a:ext cx="1981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50"/>
                </a:solidFill>
                <a:latin typeface="Arial"/>
                <a:ea typeface="Arial"/>
                <a:cs typeface="Arial"/>
              </a:defRPr>
            </a:pPr>
            <a:r>
              <a:rPr sz="2025" b="0">
                <a:solidFill>
                  <a:srgbClr val="142D50"/>
                </a:solidFill>
                <a:latin typeface="Arial"/>
                <a:ea typeface="Arial"/>
                <a:cs typeface="Arial"/>
              </a:rPr>
              <a:t>Leclerc</a:t>
            </a:r>
          </a:p>
          <a:p xmlns:a="http://schemas.openxmlformats.org/drawingml/2006/main">
            <a:pPr>
              <a:defRPr sz="2025" b="0">
                <a:solidFill>
                  <a:srgbClr val="142D50"/>
                </a:solidFill>
                <a:latin typeface="Arial"/>
                <a:ea typeface="Arial"/>
                <a:cs typeface="Arial"/>
              </a:defRPr>
            </a:pPr>
            <a:r>
              <a:rPr sz="2025" b="0">
                <a:solidFill>
                  <a:srgbClr val="142D50"/>
                </a:solidFill>
                <a:latin typeface="Arial"/>
                <a:ea typeface="Arial"/>
                <a:cs typeface="Arial"/>
              </a:rPr>
              <a:t>podium probability</a:t>
            </a:r>
          </a:p>
        </p:txBody>
      </p:sp>
      <p:sp>
        <p:nvSpPr>
          <p:cNvPr id="5" name="">
            <a:extLst xmlns:a="http://schemas.openxmlformats.org/drawingml/2006/main">
              <a:ext uri="{FF2B5EF4-FFF2-40B4-BE49-F238E27FC236}">
                <a16:creationId xmlns:a16="http://schemas.microsoft.com/office/drawing/2014/main" id="{FD6C58B7-D7AD-48B7-B938-7EBA4F7A84CE}"/>
              </a:ext>
            </a:extLst>
          </p:cNvPr>
          <p:cNvSpPr>
            <a:spLocks xmlns:a="http://schemas.openxmlformats.org/drawingml/2006/main" noGrp="1"/>
          </p:cNvSpPr>
          <p:nvPr/>
        </p:nvSpPr>
        <p:spPr>
          <a:xfrm xmlns:a="http://schemas.openxmlformats.org/drawingml/2006/main">
            <a:off x="9601200" y="3981450"/>
            <a:ext cx="1981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1677F"/>
                </a:solidFill>
                <a:latin typeface="Arial"/>
                <a:ea typeface="Arial"/>
                <a:cs typeface="Arial"/>
              </a:defRPr>
            </a:pPr>
            <a:r>
              <a:rPr sz="1950" b="0">
                <a:solidFill>
                  <a:srgbClr val="51677F"/>
                </a:solidFill>
                <a:latin typeface="Arial"/>
                <a:ea typeface="Arial"/>
                <a:cs typeface="Arial"/>
              </a:rPr>
              <a:t>70.9%</a:t>
            </a:r>
          </a:p>
          <a:p xmlns:a="http://schemas.openxmlformats.org/drawingml/2006/main">
            <a:pPr>
              <a:defRPr sz="1950" b="0">
                <a:solidFill>
                  <a:srgbClr val="51677F"/>
                </a:solidFill>
                <a:latin typeface="Arial"/>
                <a:ea typeface="Arial"/>
                <a:cs typeface="Arial"/>
              </a:defRPr>
            </a:pPr>
            <a:r>
              <a:rPr sz="1950" b="0">
                <a:solidFill>
                  <a:srgbClr val="51677F"/>
                </a:solidFill>
                <a:latin typeface="Arial"/>
                <a:ea typeface="Arial"/>
                <a:cs typeface="Arial"/>
              </a:rPr>
              <a:t>grid baseline</a:t>
            </a:r>
          </a:p>
        </p:txBody>
      </p:sp>
      <p:sp>
        <p:nvSpPr>
          <p:cNvPr id="6" name="">
            <a:extLst xmlns:a="http://schemas.openxmlformats.org/drawingml/2006/main">
              <a:ext uri="{FF2B5EF4-FFF2-40B4-BE49-F238E27FC236}">
                <a16:creationId xmlns:a16="http://schemas.microsoft.com/office/drawing/2014/main" id="{D0D4F6B7-70A8-4591-B748-237F17269EA7}"/>
              </a:ext>
            </a:extLst>
          </p:cNvPr>
          <p:cNvSpPr>
            <a:spLocks xmlns:a="http://schemas.openxmlformats.org/drawingml/2006/main" noGrp="1"/>
          </p:cNvSpPr>
          <p:nvPr/>
        </p:nvSpPr>
        <p:spPr>
          <a:xfrm xmlns:a="http://schemas.openxmlformats.org/drawingml/2006/main">
            <a:off x="9601200" y="5410200"/>
            <a:ext cx="1981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Historical 2024 backtest</a:t>
            </a:r>
          </a:p>
        </p:txBody>
      </p:sp>
    </p:spTree>
    <p:extLst>
      <p:ext uri="{BB962C8B-B14F-4D97-AF65-F5344CB8AC3E}">
        <p14:creationId xmlns:p14="http://schemas.microsoft.com/office/powerpoint/2010/main" val="972917432"/>
      </p:ext>
    </p:extLst>
  </p:cSld>
</p:sld>
</file>

<file path=ppt/slides/slide8.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59A3C0-E1D5-4BA2-8CCB-A49A6529275B}"/>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Temporal evaluation and leakage controls</a:t>
            </a:r>
          </a:p>
        </p:txBody>
      </p:sp>
      <p:graphicFrame>
        <p:nvGraphicFramePr>
          <p:cNvPr id="6" name=""/>
          <p:cNvGraphicFramePr/>
          <p:nvPr/>
        </p:nvGraphicFramePr>
        <p:xfrm>
          <a:off xmlns:a="http://schemas.openxmlformats.org/drawingml/2006/main" x="609600" y="1619250"/>
          <a:ext xmlns:a="http://schemas.openxmlformats.org/drawingml/2006/main" cx="10972800" cy="2571750"/>
        </p:xfrm>
        <a:graphic xmlns:a="http://schemas.openxmlformats.org/drawingml/2006/main">
          <a:graphicData uri="http://schemas.openxmlformats.org/drawingml/2006/table">
            <a:tbl>
              <a:tblPr/>
              <a:tblGrid>
                <a:gridCol w="2857500"/>
                <a:gridCol w="2381250"/>
                <a:gridCol w="5734050"/>
              </a:tblGrid>
              <a:tr h="642938">
                <a:tc>
                  <a:txBody>
                    <a:bodyPr/>
                    <a:lstStyle/>
                    <a:p>
                      <a:r>
                        <a:rPr sz="1800" b="1">
                          <a:solidFill>
                            <a:srgbClr val="FFFFFF"/>
                          </a:solidFill>
                          <a:latin typeface="Arial"/>
                          <a:ea typeface="Arial"/>
                          <a:cs typeface="Arial"/>
                        </a:rPr>
                        <a:t>Partition</a:t>
                      </a:r>
                    </a:p>
                  </a:txBody>
                  <a:tcPr marL="91440" marR="91440" marT="45720" marB="45720">
                    <a:solidFill>
                      <a:srgbClr val="142D50"/>
                    </a:solidFill>
                  </a:tcPr>
                </a:tc>
                <a:tc>
                  <a:txBody>
                    <a:bodyPr/>
                    <a:lstStyle/>
                    <a:p>
                      <a:r>
                        <a:rPr sz="1800" b="1">
                          <a:solidFill>
                            <a:srgbClr val="FFFFFF"/>
                          </a:solidFill>
                          <a:latin typeface="Arial"/>
                          <a:ea typeface="Arial"/>
                          <a:cs typeface="Arial"/>
                        </a:rPr>
                        <a:t>Seasons</a:t>
                      </a:r>
                    </a:p>
                  </a:txBody>
                  <a:tcPr marL="91440" marR="91440" marT="45720" marB="45720">
                    <a:solidFill>
                      <a:srgbClr val="142D50"/>
                    </a:solidFill>
                  </a:tcPr>
                </a:tc>
                <a:tc>
                  <a:txBody>
                    <a:bodyPr/>
                    <a:lstStyle/>
                    <a:p>
                      <a:r>
                        <a:rPr sz="1800" b="1">
                          <a:solidFill>
                            <a:srgbClr val="FFFFFF"/>
                          </a:solidFill>
                          <a:latin typeface="Arial"/>
                          <a:ea typeface="Arial"/>
                          <a:cs typeface="Arial"/>
                        </a:rPr>
                        <a:t>Purpose</a:t>
                      </a:r>
                    </a:p>
                  </a:txBody>
                  <a:tcPr marL="91440" marR="91440" marT="45720" marB="45720">
                    <a:solidFill>
                      <a:srgbClr val="142D50"/>
                    </a:solidFill>
                  </a:tcPr>
                </a:tc>
              </a:tr>
              <a:tr h="642938">
                <a:tc>
                  <a:txBody>
                    <a:bodyPr/>
                    <a:lstStyle/>
                    <a:p>
                      <a:r>
                        <a:rPr sz="1800" b="0">
                          <a:solidFill>
                            <a:srgbClr val="142D50"/>
                          </a:solidFill>
                          <a:latin typeface="Arial"/>
                          <a:ea typeface="Arial"/>
                          <a:cs typeface="Arial"/>
                        </a:rPr>
                        <a:t>Training</a:t>
                      </a:r>
                    </a:p>
                  </a:txBody>
                  <a:tcPr marL="91440" marR="91440" marT="45720" marB="45720">
                    <a:solidFill>
                      <a:srgbClr val="FFFFFF"/>
                    </a:solidFill>
                  </a:tcPr>
                </a:tc>
                <a:tc>
                  <a:txBody>
                    <a:bodyPr/>
                    <a:lstStyle/>
                    <a:p>
                      <a:r>
                        <a:rPr sz="1800" b="0">
                          <a:solidFill>
                            <a:srgbClr val="142D50"/>
                          </a:solidFill>
                          <a:latin typeface="Arial"/>
                          <a:ea typeface="Arial"/>
                          <a:cs typeface="Arial"/>
                        </a:rPr>
                        <a:t>2010–2018</a:t>
                      </a:r>
                    </a:p>
                  </a:txBody>
                  <a:tcPr marL="91440" marR="91440" marT="45720" marB="45720">
                    <a:solidFill>
                      <a:srgbClr val="FFFFFF"/>
                    </a:solidFill>
                  </a:tcPr>
                </a:tc>
                <a:tc>
                  <a:txBody>
                    <a:bodyPr/>
                    <a:lstStyle/>
                    <a:p>
                      <a:r>
                        <a:rPr sz="1800" b="0">
                          <a:solidFill>
                            <a:srgbClr val="142D50"/>
                          </a:solidFill>
                          <a:latin typeface="Arial"/>
                          <a:ea typeface="Arial"/>
                          <a:cs typeface="Arial"/>
                        </a:rPr>
                        <a:t>Fit models and training-only calibration</a:t>
                      </a:r>
                    </a:p>
                  </a:txBody>
                  <a:tcPr marL="91440" marR="91440" marT="45720" marB="45720">
                    <a:solidFill>
                      <a:srgbClr val="FFFFFF"/>
                    </a:solidFill>
                  </a:tcPr>
                </a:tc>
              </a:tr>
              <a:tr h="642938">
                <a:tc>
                  <a:txBody>
                    <a:bodyPr/>
                    <a:lstStyle/>
                    <a:p>
                      <a:r>
                        <a:rPr sz="1800" b="0">
                          <a:solidFill>
                            <a:srgbClr val="142D50"/>
                          </a:solidFill>
                          <a:latin typeface="Arial"/>
                          <a:ea typeface="Arial"/>
                          <a:cs typeface="Arial"/>
                        </a:rPr>
                        <a:t>Validation</a:t>
                      </a:r>
                    </a:p>
                  </a:txBody>
                  <a:tcPr marL="91440" marR="91440" marT="45720" marB="45720">
                    <a:solidFill>
                      <a:srgbClr val="E9EFF7"/>
                    </a:solidFill>
                  </a:tcPr>
                </a:tc>
                <a:tc>
                  <a:txBody>
                    <a:bodyPr/>
                    <a:lstStyle/>
                    <a:p>
                      <a:r>
                        <a:rPr sz="1800" b="0">
                          <a:solidFill>
                            <a:srgbClr val="142D50"/>
                          </a:solidFill>
                          <a:latin typeface="Arial"/>
                          <a:ea typeface="Arial"/>
                          <a:cs typeface="Arial"/>
                        </a:rPr>
                        <a:t>2019–2021</a:t>
                      </a:r>
                    </a:p>
                  </a:txBody>
                  <a:tcPr marL="91440" marR="91440" marT="45720" marB="45720">
                    <a:solidFill>
                      <a:srgbClr val="E9EFF7"/>
                    </a:solidFill>
                  </a:tcPr>
                </a:tc>
                <a:tc>
                  <a:txBody>
                    <a:bodyPr/>
                    <a:lstStyle/>
                    <a:p>
                      <a:r>
                        <a:rPr sz="1800" b="0">
                          <a:solidFill>
                            <a:srgbClr val="142D50"/>
                          </a:solidFill>
                          <a:latin typeface="Arial"/>
                          <a:ea typeface="Arial"/>
                          <a:cs typeface="Arial"/>
                        </a:rPr>
                        <a:t>Choose features, model and calibration</a:t>
                      </a:r>
                    </a:p>
                  </a:txBody>
                  <a:tcPr marL="91440" marR="91440" marT="45720" marB="45720">
                    <a:solidFill>
                      <a:srgbClr val="E9EFF7"/>
                    </a:solidFill>
                  </a:tcPr>
                </a:tc>
              </a:tr>
              <a:tr h="642938">
                <a:tc>
                  <a:txBody>
                    <a:bodyPr/>
                    <a:lstStyle/>
                    <a:p>
                      <a:r>
                        <a:rPr sz="1800" b="0">
                          <a:solidFill>
                            <a:srgbClr val="142D50"/>
                          </a:solidFill>
                          <a:latin typeface="Arial"/>
                          <a:ea typeface="Arial"/>
                          <a:cs typeface="Arial"/>
                        </a:rPr>
                        <a:t>Final test</a:t>
                      </a:r>
                    </a:p>
                  </a:txBody>
                  <a:tcPr marL="91440" marR="91440" marT="45720" marB="45720">
                    <a:solidFill>
                      <a:srgbClr val="FFFFFF"/>
                    </a:solidFill>
                  </a:tcPr>
                </a:tc>
                <a:tc>
                  <a:txBody>
                    <a:bodyPr/>
                    <a:lstStyle/>
                    <a:p>
                      <a:r>
                        <a:rPr sz="1800" b="0">
                          <a:solidFill>
                            <a:srgbClr val="142D50"/>
                          </a:solidFill>
                          <a:latin typeface="Arial"/>
                          <a:ea typeface="Arial"/>
                          <a:cs typeface="Arial"/>
                        </a:rPr>
                        <a:t>2022–2024</a:t>
                      </a:r>
                    </a:p>
                  </a:txBody>
                  <a:tcPr marL="91440" marR="91440" marT="45720" marB="45720">
                    <a:solidFill>
                      <a:srgbClr val="FFFFFF"/>
                    </a:solidFill>
                  </a:tcPr>
                </a:tc>
                <a:tc>
                  <a:txBody>
                    <a:bodyPr/>
                    <a:lstStyle/>
                    <a:p>
                      <a:r>
                        <a:rPr sz="1800" b="0">
                          <a:solidFill>
                            <a:srgbClr val="142D50"/>
                          </a:solidFill>
                          <a:latin typeface="Arial"/>
                          <a:ea typeface="Arial"/>
                          <a:cs typeface="Arial"/>
                        </a:rPr>
                        <a:t>Evaluate the frozen selection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8FEA456-862B-4793-AB69-B053CCA88EC4}"/>
              </a:ext>
            </a:extLst>
          </p:cNvPr>
          <p:cNvSpPr>
            <a:spLocks xmlns:a="http://schemas.openxmlformats.org/drawingml/2006/main" noGrp="1"/>
          </p:cNvSpPr>
          <p:nvPr/>
        </p:nvSpPr>
        <p:spPr>
          <a:xfrm xmlns:a="http://schemas.openxmlformats.org/drawingml/2006/main">
            <a:off x="609600" y="4667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5DD8"/>
                </a:solidFill>
                <a:latin typeface="Arial"/>
                <a:ea typeface="Arial"/>
                <a:cs typeface="Arial"/>
              </a:defRPr>
            </a:pPr>
            <a:r>
              <a:rPr sz="2250" b="1">
                <a:solidFill>
                  <a:srgbClr val="245DD8"/>
                </a:solidFill>
                <a:latin typeface="Arial"/>
                <a:ea typeface="Arial"/>
                <a:cs typeface="Arial"/>
              </a:rPr>
              <a:t>Features use earlier driver, constructor and circuit history.</a:t>
            </a:r>
          </a:p>
        </p:txBody>
      </p:sp>
      <p:sp>
        <p:nvSpPr>
          <p:cNvPr id="4" name="">
            <a:extLst xmlns:a="http://schemas.openxmlformats.org/drawingml/2006/main">
              <a:ext uri="{FF2B5EF4-FFF2-40B4-BE49-F238E27FC236}">
                <a16:creationId xmlns:a16="http://schemas.microsoft.com/office/drawing/2014/main" id="{DD22D324-5FFA-4F4C-B875-D0DB931C651D}"/>
              </a:ext>
            </a:extLst>
          </p:cNvPr>
          <p:cNvSpPr>
            <a:spLocks xmlns:a="http://schemas.openxmlformats.org/drawingml/2006/main" noGrp="1"/>
          </p:cNvSpPr>
          <p:nvPr/>
        </p:nvSpPr>
        <p:spPr>
          <a:xfrm xmlns:a="http://schemas.openxmlformats.org/drawingml/2006/main">
            <a:off x="609600" y="5410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Mutation tests check same-race, future and teammate leakage.</a:t>
            </a:r>
          </a:p>
        </p:txBody>
      </p:sp>
    </p:spTree>
    <p:extLst>
      <p:ext uri="{BB962C8B-B14F-4D97-AF65-F5344CB8AC3E}">
        <p14:creationId xmlns:p14="http://schemas.microsoft.com/office/powerpoint/2010/main" val="783532946"/>
      </p:ext>
    </p:extLst>
  </p:cSld>
</p:sld>
</file>

<file path=ppt/slides/slide9.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DA72742-6E6B-4F91-9BC4-3310C82AA98D}"/>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Final model evaluation</a:t>
            </a:r>
          </a:p>
        </p:txBody>
      </p:sp>
      <p:graphicFrame>
        <p:nvGraphicFramePr>
          <p:cNvPr id="5" name=""/>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a:tblGrid>
                <a:gridCol w="5638800"/>
                <a:gridCol w="2667000"/>
                <a:gridCol w="2667000"/>
              </a:tblGrid>
              <a:tr h="666750">
                <a:tc>
                  <a:txBody>
                    <a:bodyPr/>
                    <a:lstStyle/>
                    <a:p>
                      <a:r>
                        <a:rPr sz="1800" b="1">
                          <a:solidFill>
                            <a:srgbClr val="FFFFFF"/>
                          </a:solidFill>
                          <a:latin typeface="Arial"/>
                          <a:ea typeface="Arial"/>
                          <a:cs typeface="Arial"/>
                        </a:rPr>
                        <a:t>Metric, 2022–2024</a:t>
                      </a:r>
                    </a:p>
                  </a:txBody>
                  <a:tcPr marL="91440" marR="91440" marT="45720" marB="45720">
                    <a:solidFill>
                      <a:srgbClr val="142D50"/>
                    </a:solidFill>
                  </a:tcPr>
                </a:tc>
                <a:tc>
                  <a:txBody>
                    <a:bodyPr/>
                    <a:lstStyle/>
                    <a:p>
                      <a:r>
                        <a:rPr sz="1800" b="1">
                          <a:solidFill>
                            <a:srgbClr val="FFFFFF"/>
                          </a:solidFill>
                          <a:latin typeface="Arial"/>
                          <a:ea typeface="Arial"/>
                          <a:cs typeface="Arial"/>
                        </a:rPr>
                        <a:t>Grid baseline</a:t>
                      </a:r>
                    </a:p>
                  </a:txBody>
                  <a:tcPr marL="91440" marR="91440" marT="45720" marB="45720">
                    <a:solidFill>
                      <a:srgbClr val="142D50"/>
                    </a:solidFill>
                  </a:tcPr>
                </a:tc>
                <a:tc>
                  <a:txBody>
                    <a:bodyPr/>
                    <a:lstStyle/>
                    <a:p>
                      <a:r>
                        <a:rPr sz="1800" b="1">
                          <a:solidFill>
                            <a:srgbClr val="FFFFFF"/>
                          </a:solidFill>
                          <a:latin typeface="Arial"/>
                          <a:ea typeface="Arial"/>
                          <a:cs typeface="Arial"/>
                        </a:rPr>
                        <a:t>Selected model</a:t>
                      </a:r>
                    </a:p>
                  </a:txBody>
                  <a:tcPr marL="91440" marR="91440" marT="45720" marB="45720">
                    <a:solidFill>
                      <a:srgbClr val="142D50"/>
                    </a:solidFill>
                  </a:tcPr>
                </a:tc>
              </a:tr>
              <a:tr h="666750">
                <a:tc>
                  <a:txBody>
                    <a:bodyPr/>
                    <a:lstStyle/>
                    <a:p>
                      <a:r>
                        <a:rPr sz="1800" b="0">
                          <a:solidFill>
                            <a:srgbClr val="142D50"/>
                          </a:solidFill>
                          <a:latin typeface="Arial"/>
                          <a:ea typeface="Arial"/>
                          <a:cs typeface="Arial"/>
                        </a:rPr>
                        <a:t>Log loss, lower is better</a:t>
                      </a:r>
                    </a:p>
                  </a:txBody>
                  <a:tcPr marL="91440" marR="91440" marT="45720" marB="45720">
                    <a:solidFill>
                      <a:srgbClr val="FFFFFF"/>
                    </a:solidFill>
                  </a:tcPr>
                </a:tc>
                <a:tc>
                  <a:txBody>
                    <a:bodyPr/>
                    <a:lstStyle/>
                    <a:p>
                      <a:r>
                        <a:rPr sz="1800" b="0">
                          <a:solidFill>
                            <a:srgbClr val="142D50"/>
                          </a:solidFill>
                          <a:latin typeface="Arial"/>
                          <a:ea typeface="Arial"/>
                          <a:cs typeface="Arial"/>
                        </a:rPr>
                        <a:t>0.249898</a:t>
                      </a:r>
                    </a:p>
                  </a:txBody>
                  <a:tcPr marL="91440" marR="91440" marT="45720" marB="45720">
                    <a:solidFill>
                      <a:srgbClr val="FFFFFF"/>
                    </a:solidFill>
                  </a:tcPr>
                </a:tc>
                <a:tc>
                  <a:txBody>
                    <a:bodyPr/>
                    <a:lstStyle/>
                    <a:p>
                      <a:r>
                        <a:rPr sz="1800" b="0">
                          <a:solidFill>
                            <a:srgbClr val="142D50"/>
                          </a:solidFill>
                          <a:latin typeface="Arial"/>
                          <a:ea typeface="Arial"/>
                          <a:cs typeface="Arial"/>
                        </a:rPr>
                        <a:t>0.219846</a:t>
                      </a:r>
                    </a:p>
                  </a:txBody>
                  <a:tcPr marL="91440" marR="91440" marT="45720" marB="45720">
                    <a:solidFill>
                      <a:srgbClr val="FFFFFF"/>
                    </a:solidFill>
                  </a:tcPr>
                </a:tc>
              </a:tr>
              <a:tr h="666750">
                <a:tc>
                  <a:txBody>
                    <a:bodyPr/>
                    <a:lstStyle/>
                    <a:p>
                      <a:r>
                        <a:rPr sz="1800" b="0">
                          <a:solidFill>
                            <a:srgbClr val="142D50"/>
                          </a:solidFill>
                          <a:latin typeface="Arial"/>
                          <a:ea typeface="Arial"/>
                          <a:cs typeface="Arial"/>
                        </a:rPr>
                        <a:t>Brier score, lower is better</a:t>
                      </a:r>
                    </a:p>
                  </a:txBody>
                  <a:tcPr marL="91440" marR="91440" marT="45720" marB="45720">
                    <a:solidFill>
                      <a:srgbClr val="E9EFF7"/>
                    </a:solidFill>
                  </a:tcPr>
                </a:tc>
                <a:tc>
                  <a:txBody>
                    <a:bodyPr/>
                    <a:lstStyle/>
                    <a:p>
                      <a:r>
                        <a:rPr sz="1800" b="0">
                          <a:solidFill>
                            <a:srgbClr val="142D50"/>
                          </a:solidFill>
                          <a:latin typeface="Arial"/>
                          <a:ea typeface="Arial"/>
                          <a:cs typeface="Arial"/>
                        </a:rPr>
                        <a:t>0.073811</a:t>
                      </a:r>
                    </a:p>
                  </a:txBody>
                  <a:tcPr marL="91440" marR="91440" marT="45720" marB="45720">
                    <a:solidFill>
                      <a:srgbClr val="E9EFF7"/>
                    </a:solidFill>
                  </a:tcPr>
                </a:tc>
                <a:tc>
                  <a:txBody>
                    <a:bodyPr/>
                    <a:lstStyle/>
                    <a:p>
                      <a:r>
                        <a:rPr sz="1800" b="0">
                          <a:solidFill>
                            <a:srgbClr val="142D50"/>
                          </a:solidFill>
                          <a:latin typeface="Arial"/>
                          <a:ea typeface="Arial"/>
                          <a:cs typeface="Arial"/>
                        </a:rPr>
                        <a:t>0.069285</a:t>
                      </a:r>
                    </a:p>
                  </a:txBody>
                  <a:tcPr marL="91440" marR="91440" marT="45720" marB="45720">
                    <a:solidFill>
                      <a:srgbClr val="E9EFF7"/>
                    </a:solidFill>
                  </a:tcPr>
                </a:tc>
              </a:tr>
              <a:tr h="666750">
                <a:tc>
                  <a:txBody>
                    <a:bodyPr/>
                    <a:lstStyle/>
                    <a:p>
                      <a:r>
                        <a:rPr sz="1800" b="0">
                          <a:solidFill>
                            <a:srgbClr val="142D50"/>
                          </a:solidFill>
                          <a:latin typeface="Arial"/>
                          <a:ea typeface="Arial"/>
                          <a:cs typeface="Arial"/>
                        </a:rPr>
                        <a:t>ROC-AUC, higher is better</a:t>
                      </a:r>
                    </a:p>
                  </a:txBody>
                  <a:tcPr marL="91440" marR="91440" marT="45720" marB="45720">
                    <a:solidFill>
                      <a:srgbClr val="FFFFFF"/>
                    </a:solidFill>
                  </a:tcPr>
                </a:tc>
                <a:tc>
                  <a:txBody>
                    <a:bodyPr/>
                    <a:lstStyle/>
                    <a:p>
                      <a:r>
                        <a:rPr sz="1800" b="0">
                          <a:solidFill>
                            <a:srgbClr val="142D50"/>
                          </a:solidFill>
                          <a:latin typeface="Arial"/>
                          <a:ea typeface="Arial"/>
                          <a:cs typeface="Arial"/>
                        </a:rPr>
                        <a:t>0.913827</a:t>
                      </a:r>
                    </a:p>
                  </a:txBody>
                  <a:tcPr marL="91440" marR="91440" marT="45720" marB="45720">
                    <a:solidFill>
                      <a:srgbClr val="FFFFFF"/>
                    </a:solidFill>
                  </a:tcPr>
                </a:tc>
                <a:tc>
                  <a:txBody>
                    <a:bodyPr/>
                    <a:lstStyle/>
                    <a:p>
                      <a:r>
                        <a:rPr sz="1800" b="0">
                          <a:solidFill>
                            <a:srgbClr val="142D50"/>
                          </a:solidFill>
                          <a:latin typeface="Arial"/>
                          <a:ea typeface="Arial"/>
                          <a:cs typeface="Arial"/>
                        </a:rPr>
                        <a:t>0.935364</a:t>
                      </a:r>
                    </a:p>
                  </a:txBody>
                  <a:tcPr marL="91440" marR="91440" marT="45720" marB="45720">
                    <a:solidFill>
                      <a:srgbClr val="FFFFFF"/>
                    </a:solidFill>
                  </a:tcPr>
                </a:tc>
              </a:tr>
              <a:tr h="666750">
                <a:tc>
                  <a:txBody>
                    <a:bodyPr/>
                    <a:lstStyle/>
                    <a:p>
                      <a:r>
                        <a:rPr sz="1800" b="0">
                          <a:solidFill>
                            <a:srgbClr val="142D50"/>
                          </a:solidFill>
                          <a:latin typeface="Arial"/>
                          <a:ea typeface="Arial"/>
                          <a:cs typeface="Arial"/>
                        </a:rPr>
                        <a:t>Top-three hit rate</a:t>
                      </a:r>
                    </a:p>
                  </a:txBody>
                  <a:tcPr marL="91440" marR="91440" marT="45720" marB="45720">
                    <a:solidFill>
                      <a:srgbClr val="E9EFF7"/>
                    </a:solidFill>
                  </a:tcPr>
                </a:tc>
                <a:tc>
                  <a:txBody>
                    <a:bodyPr/>
                    <a:lstStyle/>
                    <a:p>
                      <a:r>
                        <a:rPr sz="1800" b="0">
                          <a:solidFill>
                            <a:srgbClr val="142D50"/>
                          </a:solidFill>
                          <a:latin typeface="Arial"/>
                          <a:ea typeface="Arial"/>
                          <a:cs typeface="Arial"/>
                        </a:rPr>
                        <a:t>0.651961</a:t>
                      </a:r>
                    </a:p>
                  </a:txBody>
                  <a:tcPr marL="91440" marR="91440" marT="45720" marB="45720">
                    <a:solidFill>
                      <a:srgbClr val="E9EFF7"/>
                    </a:solidFill>
                  </a:tcPr>
                </a:tc>
                <a:tc>
                  <a:txBody>
                    <a:bodyPr/>
                    <a:lstStyle/>
                    <a:p>
                      <a:r>
                        <a:rPr sz="1800" b="0">
                          <a:solidFill>
                            <a:srgbClr val="142D50"/>
                          </a:solidFill>
                          <a:latin typeface="Arial"/>
                          <a:ea typeface="Arial"/>
                          <a:cs typeface="Arial"/>
                        </a:rPr>
                        <a:t>0.647059</a:t>
                      </a:r>
                    </a:p>
                  </a:txBody>
                  <a:tcPr marL="91440" marR="91440" marT="45720" marB="45720">
                    <a:solidFill>
                      <a:srgbClr val="E9EFF7"/>
                    </a:solidFill>
                  </a:tcPr>
                </a:tc>
              </a:tr>
            </a:tbl>
          </a:graphicData>
        </a:graphic>
      </p:graphicFrame>
      <p:sp>
        <p:nvSpPr>
          <p:cNvPr id="3" name="">
            <a:extLst xmlns:a="http://schemas.openxmlformats.org/drawingml/2006/main">
              <a:ext uri="{FF2B5EF4-FFF2-40B4-BE49-F238E27FC236}">
                <a16:creationId xmlns:a16="http://schemas.microsoft.com/office/drawing/2014/main" id="{D82699C3-78CE-46A9-B702-0FF96D4AB68A}"/>
              </a:ext>
            </a:extLst>
          </p:cNvPr>
          <p:cNvSpPr>
            <a:spLocks xmlns:a="http://schemas.openxmlformats.org/drawingml/2006/main" noGrp="1"/>
          </p:cNvSpPr>
          <p:nvPr/>
        </p:nvSpPr>
        <p:spPr>
          <a:xfrm xmlns:a="http://schemas.openxmlformats.org/drawingml/2006/main">
            <a:off x="609600" y="5353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5DD8"/>
                </a:solidFill>
                <a:latin typeface="Arial"/>
                <a:ea typeface="Arial"/>
                <a:cs typeface="Arial"/>
              </a:defRPr>
            </a:pPr>
            <a:r>
              <a:rPr sz="2250" b="1">
                <a:solidFill>
                  <a:srgbClr val="245DD8"/>
                </a:solidFill>
                <a:latin typeface="Arial"/>
                <a:ea typeface="Arial"/>
                <a:cs typeface="Arial"/>
              </a:rPr>
              <a:t>Probability quality improved. Top-three selection did not improve.</a:t>
            </a:r>
          </a:p>
        </p:txBody>
      </p:sp>
    </p:spTree>
    <p:extLst>
      <p:ext uri="{BB962C8B-B14F-4D97-AF65-F5344CB8AC3E}">
        <p14:creationId xmlns:p14="http://schemas.microsoft.com/office/powerpoint/2010/main" val="909118018"/>
      </p:ext>
    </p:extLst>
  </p:cSld>
</p:sld>
</file>

<file path=ppt/slides/slide10.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1E5512-2851-4679-B8E6-6FDF629837FE}"/>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Grounded strategist chat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390c810382a4c54"/>
          <a:stretch xmlns:a="http://schemas.openxmlformats.org/drawingml/2006/main"/>
        </p:blipFill>
        <p:spPr>
          <a:xfrm xmlns:a="http://schemas.openxmlformats.org/drawingml/2006/main">
            <a:off x="982610" y="1352550"/>
            <a:ext cx="2359130" cy="51054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A6C69A3-5A17-4256-905B-56809345D13B}"/>
              </a:ext>
            </a:extLst>
          </p:cNvPr>
          <p:cNvSpPr>
            <a:spLocks xmlns:a="http://schemas.openxmlformats.org/drawingml/2006/main" noGrp="1"/>
          </p:cNvSpPr>
          <p:nvPr/>
        </p:nvSpPr>
        <p:spPr>
          <a:xfrm xmlns:a="http://schemas.openxmlformats.org/drawingml/2006/main">
            <a:off x="4171950" y="1828800"/>
            <a:ext cx="7191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Statistics use executed SQL and database rows.</a:t>
            </a:r>
          </a:p>
        </p:txBody>
      </p:sp>
      <p:sp>
        <p:nvSpPr>
          <p:cNvPr id="4" name="">
            <a:extLst xmlns:a="http://schemas.openxmlformats.org/drawingml/2006/main">
              <a:ext uri="{FF2B5EF4-FFF2-40B4-BE49-F238E27FC236}">
                <a16:creationId xmlns:a16="http://schemas.microsoft.com/office/drawing/2014/main" id="{AF7F49FE-D2BA-4917-9885-79B7D0AB1226}"/>
              </a:ext>
            </a:extLst>
          </p:cNvPr>
          <p:cNvSpPr>
            <a:spLocks xmlns:a="http://schemas.openxmlformats.org/drawingml/2006/main" noGrp="1"/>
          </p:cNvSpPr>
          <p:nvPr/>
        </p:nvSpPr>
        <p:spPr>
          <a:xfrm xmlns:a="http://schemas.openxmlformats.org/drawingml/2006/main">
            <a:off x="4171950" y="2895600"/>
            <a:ext cx="7191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Generated SQL is visible for inspection.</a:t>
            </a:r>
          </a:p>
        </p:txBody>
      </p:sp>
      <p:sp>
        <p:nvSpPr>
          <p:cNvPr id="5" name="">
            <a:extLst xmlns:a="http://schemas.openxmlformats.org/drawingml/2006/main">
              <a:ext uri="{FF2B5EF4-FFF2-40B4-BE49-F238E27FC236}">
                <a16:creationId xmlns:a16="http://schemas.microsoft.com/office/drawing/2014/main" id="{597998F4-B79B-4075-A2F4-06563245E5F4}"/>
              </a:ext>
            </a:extLst>
          </p:cNvPr>
          <p:cNvSpPr>
            <a:spLocks xmlns:a="http://schemas.openxmlformats.org/drawingml/2006/main" noGrp="1"/>
          </p:cNvSpPr>
          <p:nvPr/>
        </p:nvSpPr>
        <p:spPr>
          <a:xfrm xmlns:a="http://schemas.openxmlformats.org/drawingml/2006/main">
            <a:off x="4171950" y="3962400"/>
            <a:ext cx="7191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Prediction questions call the real ML model.</a:t>
            </a:r>
          </a:p>
        </p:txBody>
      </p:sp>
      <p:sp>
        <p:nvSpPr>
          <p:cNvPr id="6" name="">
            <a:extLst xmlns:a="http://schemas.openxmlformats.org/drawingml/2006/main">
              <a:ext uri="{FF2B5EF4-FFF2-40B4-BE49-F238E27FC236}">
                <a16:creationId xmlns:a16="http://schemas.microsoft.com/office/drawing/2014/main" id="{C55F306D-877F-4D65-BCFB-E3DBFC3A29DE}"/>
              </a:ext>
            </a:extLst>
          </p:cNvPr>
          <p:cNvSpPr>
            <a:spLocks xmlns:a="http://schemas.openxmlformats.org/drawingml/2006/main" noGrp="1"/>
          </p:cNvSpPr>
          <p:nvPr/>
        </p:nvSpPr>
        <p:spPr>
          <a:xfrm xmlns:a="http://schemas.openxmlformats.org/drawingml/2006/main">
            <a:off x="4171950" y="5029200"/>
            <a:ext cx="7191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Unsupported weather questions receive a refusal.</a:t>
            </a:r>
          </a:p>
        </p:txBody>
      </p:sp>
    </p:spTree>
    <p:extLst>
      <p:ext uri="{BB962C8B-B14F-4D97-AF65-F5344CB8AC3E}">
        <p14:creationId xmlns:p14="http://schemas.microsoft.com/office/powerpoint/2010/main" val="300641810"/>
      </p:ext>
    </p:extLst>
  </p:cSld>
</p:sld>
</file>

<file path=ppt/slides/slide11.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36C406-C529-4F97-9720-9E3ADD98C963}"/>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Live NL2SQL benchmark</a:t>
            </a:r>
          </a:p>
        </p:txBody>
      </p:sp>
      <p:graphicFrame>
        <p:nvGraphicFramePr>
          <p:cNvPr id="8" name="Chart"/>
          <p:cNvGraphicFramePr/>
          <p:nvPr/>
        </p:nvGraphicFramePr>
        <p:xfrm>
          <a:off xmlns:a="http://schemas.openxmlformats.org/drawingml/2006/main" x="609600" y="1524000"/>
          <a:ext xmlns:a="http://schemas.openxmlformats.org/drawingml/2006/main" cx="8096250" cy="3667125"/>
        </p:xfrm>
        <a:graphic xmlns:a="http://schemas.openxmlformats.org/drawingml/2006/main">
          <a:graphicData uri="http://schemas.openxmlformats.org/drawingml/2006/chart">
            <c:chart xmlns:r="http://schemas.openxmlformats.org/officeDocument/2006/relationships" xmlns:c="http://schemas.openxmlformats.org/drawingml/2006/chart" r:id="Raa14a8ce79094bcf"/>
          </a:graphicData>
        </a:graphic>
      </p:graphicFrame>
      <p:sp>
        <p:nvSpPr>
          <p:cNvPr id="3" name="">
            <a:extLst xmlns:a="http://schemas.openxmlformats.org/drawingml/2006/main">
              <a:ext uri="{FF2B5EF4-FFF2-40B4-BE49-F238E27FC236}">
                <a16:creationId xmlns:a16="http://schemas.microsoft.com/office/drawing/2014/main" id="{AC787993-778D-4B2B-8062-7BB02C9B8F1B}"/>
              </a:ext>
            </a:extLst>
          </p:cNvPr>
          <p:cNvSpPr>
            <a:spLocks xmlns:a="http://schemas.openxmlformats.org/drawingml/2006/main" noGrp="1"/>
          </p:cNvSpPr>
          <p:nvPr/>
        </p:nvSpPr>
        <p:spPr>
          <a:xfrm xmlns:a="http://schemas.openxmlformats.org/drawingml/2006/main">
            <a:off x="8972550" y="1819275"/>
            <a:ext cx="2609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45DD8"/>
                </a:solidFill>
                <a:latin typeface="Arial"/>
                <a:ea typeface="Arial"/>
                <a:cs typeface="Arial"/>
              </a:defRPr>
            </a:pPr>
            <a:r>
              <a:rPr sz="3900" b="1">
                <a:solidFill>
                  <a:srgbClr val="245DD8"/>
                </a:solidFill>
                <a:latin typeface="Arial"/>
                <a:ea typeface="Arial"/>
                <a:cs typeface="Arial"/>
              </a:rPr>
              <a:t>40 / 40</a:t>
            </a:r>
          </a:p>
        </p:txBody>
      </p:sp>
      <p:sp>
        <p:nvSpPr>
          <p:cNvPr id="4" name="">
            <a:extLst xmlns:a="http://schemas.openxmlformats.org/drawingml/2006/main">
              <a:ext uri="{FF2B5EF4-FFF2-40B4-BE49-F238E27FC236}">
                <a16:creationId xmlns:a16="http://schemas.microsoft.com/office/drawing/2014/main" id="{A29BCD02-4107-43CA-B686-B4301C208720}"/>
              </a:ext>
            </a:extLst>
          </p:cNvPr>
          <p:cNvSpPr>
            <a:spLocks xmlns:a="http://schemas.openxmlformats.org/drawingml/2006/main" noGrp="1"/>
          </p:cNvSpPr>
          <p:nvPr/>
        </p:nvSpPr>
        <p:spPr>
          <a:xfrm xmlns:a="http://schemas.openxmlformats.org/drawingml/2006/main">
            <a:off x="8972550" y="2857500"/>
            <a:ext cx="2609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30 analytics</a:t>
            </a:r>
          </a:p>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10 safe refusals</a:t>
            </a:r>
          </a:p>
        </p:txBody>
      </p:sp>
      <p:sp>
        <p:nvSpPr>
          <p:cNvPr id="5" name="">
            <a:extLst xmlns:a="http://schemas.openxmlformats.org/drawingml/2006/main">
              <a:ext uri="{FF2B5EF4-FFF2-40B4-BE49-F238E27FC236}">
                <a16:creationId xmlns:a16="http://schemas.microsoft.com/office/drawing/2014/main" id="{13E5C74A-B6CC-4824-A7AB-72F09563BD95}"/>
              </a:ext>
            </a:extLst>
          </p:cNvPr>
          <p:cNvSpPr>
            <a:spLocks xmlns:a="http://schemas.openxmlformats.org/drawingml/2006/main" noGrp="1"/>
          </p:cNvSpPr>
          <p:nvPr/>
        </p:nvSpPr>
        <p:spPr>
          <a:xfrm xmlns:a="http://schemas.openxmlformats.org/drawingml/2006/main">
            <a:off x="8972550" y="4124325"/>
            <a:ext cx="2609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1677F"/>
                </a:solidFill>
                <a:latin typeface="Arial"/>
                <a:ea typeface="Arial"/>
                <a:cs typeface="Arial"/>
              </a:defRPr>
            </a:pPr>
            <a:r>
              <a:rPr sz="2100" b="0">
                <a:solidFill>
                  <a:srgbClr val="51677F"/>
                </a:solidFill>
                <a:latin typeface="Arial"/>
                <a:ea typeface="Arial"/>
                <a:cs typeface="Arial"/>
              </a:rPr>
              <a:t>3.707 s</a:t>
            </a:r>
          </a:p>
          <a:p xmlns:a="http://schemas.openxmlformats.org/drawingml/2006/main">
            <a:pPr>
              <a:defRPr sz="2100" b="0">
                <a:solidFill>
                  <a:srgbClr val="51677F"/>
                </a:solidFill>
                <a:latin typeface="Arial"/>
                <a:ea typeface="Arial"/>
                <a:cs typeface="Arial"/>
              </a:defRPr>
            </a:pPr>
            <a:r>
              <a:rPr sz="2100" b="0">
                <a:solidFill>
                  <a:srgbClr val="51677F"/>
                </a:solidFill>
                <a:latin typeface="Arial"/>
                <a:ea typeface="Arial"/>
                <a:cs typeface="Arial"/>
              </a:rPr>
              <a:t>mean latency</a:t>
            </a:r>
          </a:p>
        </p:txBody>
      </p:sp>
      <p:sp>
        <p:nvSpPr>
          <p:cNvPr id="6" name="">
            <a:extLst xmlns:a="http://schemas.openxmlformats.org/drawingml/2006/main">
              <a:ext uri="{FF2B5EF4-FFF2-40B4-BE49-F238E27FC236}">
                <a16:creationId xmlns:a16="http://schemas.microsoft.com/office/drawing/2014/main" id="{77EB67BD-A03E-4429-B716-9BA8B264C0B5}"/>
              </a:ext>
            </a:extLst>
          </p:cNvPr>
          <p:cNvSpPr>
            <a:spLocks xmlns:a="http://schemas.openxmlformats.org/drawingml/2006/main" noGrp="1"/>
          </p:cNvSpPr>
          <p:nvPr/>
        </p:nvSpPr>
        <p:spPr>
          <a:xfrm xmlns:a="http://schemas.openxmlformats.org/drawingml/2006/main">
            <a:off x="609600" y="56197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1677F"/>
                </a:solidFill>
                <a:latin typeface="Arial"/>
                <a:ea typeface="Arial"/>
                <a:cs typeface="Arial"/>
              </a:defRPr>
            </a:pPr>
            <a:r>
              <a:rPr sz="1725" b="0">
                <a:solidFill>
                  <a:srgbClr val="51677F"/>
                </a:solidFill>
                <a:latin typeface="Arial"/>
                <a:ea typeface="Arial"/>
                <a:cs typeface="Arial"/>
              </a:rPr>
              <a:t>*Run 01 is diagnostic. This reused development suite does not measure unseen accuracy.</a:t>
            </a:r>
          </a:p>
        </p:txBody>
      </p:sp>
    </p:spTree>
    <p:extLst>
      <p:ext uri="{BB962C8B-B14F-4D97-AF65-F5344CB8AC3E}">
        <p14:creationId xmlns:p14="http://schemas.microsoft.com/office/powerpoint/2010/main" val="48617290"/>
      </p:ext>
    </p:extLst>
  </p:cSld>
</p:sld>
</file>

<file path=ppt/slides/slide12.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B12EBBC-031A-4819-9EED-626A80FB686A}"/>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Genuine engineering history</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e0fddada84794d8d"/>
          <a:stretch xmlns:a="http://schemas.openxmlformats.org/drawingml/2006/main"/>
        </p:blipFill>
        <p:spPr>
          <a:xfrm xmlns:a="http://schemas.openxmlformats.org/drawingml/2006/main">
            <a:off x="2735580" y="1333500"/>
            <a:ext cx="6720840"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2F776DE-8E3B-40E2-8846-4BF75989EA25}"/>
              </a:ext>
            </a:extLst>
          </p:cNvPr>
          <p:cNvSpPr>
            <a:spLocks xmlns:a="http://schemas.openxmlformats.org/drawingml/2006/main" noGrp="1"/>
          </p:cNvSpPr>
          <p:nvPr/>
        </p:nvSpPr>
        <p:spPr>
          <a:xfrm xmlns:a="http://schemas.openxmlformats.org/drawingml/2006/main">
            <a:off x="609600" y="61150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1677F"/>
                </a:solidFill>
                <a:latin typeface="Arial"/>
                <a:ea typeface="Arial"/>
                <a:cs typeface="Arial"/>
              </a:defRPr>
            </a:pPr>
            <a:r>
              <a:rPr sz="1725" b="0">
                <a:solidFill>
                  <a:srgbClr val="51677F"/>
                </a:solidFill>
                <a:latin typeface="Arial"/>
                <a:ea typeface="Arial"/>
                <a:cs typeface="Arial"/>
              </a:rPr>
              <a:t>Commits preserve implementation, corrections, experiment evidence and review findings.</a:t>
            </a:r>
          </a:p>
        </p:txBody>
      </p:sp>
    </p:spTree>
    <p:extLst>
      <p:ext uri="{BB962C8B-B14F-4D97-AF65-F5344CB8AC3E}">
        <p14:creationId xmlns:p14="http://schemas.microsoft.com/office/powerpoint/2010/main" val="1601705624"/>
      </p:ext>
    </p:extLst>
  </p:cSld>
</p:sld>
</file>

<file path=ppt/slides/slide13.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A37DAD-1C18-4C0F-A6F6-647B250AFAEB}"/>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Tests and continuous integration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72a2f0497374d8e"/>
          <a:stretch xmlns:a="http://schemas.openxmlformats.org/drawingml/2006/main"/>
        </p:blipFill>
        <p:spPr>
          <a:xfrm xmlns:a="http://schemas.openxmlformats.org/drawingml/2006/main">
            <a:off x="1365885" y="1428750"/>
            <a:ext cx="6583680" cy="4572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0E5CD4-EB33-4B7F-BEFD-122A93751008}"/>
              </a:ext>
            </a:extLst>
          </p:cNvPr>
          <p:cNvSpPr>
            <a:spLocks xmlns:a="http://schemas.openxmlformats.org/drawingml/2006/main" noGrp="1"/>
          </p:cNvSpPr>
          <p:nvPr/>
        </p:nvSpPr>
        <p:spPr>
          <a:xfrm xmlns:a="http://schemas.openxmlformats.org/drawingml/2006/main">
            <a:off x="9096375" y="17621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245DD8"/>
                </a:solidFill>
                <a:latin typeface="Arial"/>
                <a:ea typeface="Arial"/>
                <a:cs typeface="Arial"/>
              </a:defRPr>
            </a:pPr>
            <a:r>
              <a:rPr sz="4350" b="1">
                <a:solidFill>
                  <a:srgbClr val="245DD8"/>
                </a:solidFill>
                <a:latin typeface="Arial"/>
                <a:ea typeface="Arial"/>
                <a:cs typeface="Arial"/>
              </a:rPr>
              <a:t>73</a:t>
            </a:r>
          </a:p>
        </p:txBody>
      </p:sp>
      <p:sp>
        <p:nvSpPr>
          <p:cNvPr id="4" name="">
            <a:extLst xmlns:a="http://schemas.openxmlformats.org/drawingml/2006/main">
              <a:ext uri="{FF2B5EF4-FFF2-40B4-BE49-F238E27FC236}">
                <a16:creationId xmlns:a16="http://schemas.microsoft.com/office/drawing/2014/main" id="{9F7D7065-725C-4350-BCE5-5009EBE333B6}"/>
              </a:ext>
            </a:extLst>
          </p:cNvPr>
          <p:cNvSpPr>
            <a:spLocks xmlns:a="http://schemas.openxmlformats.org/drawingml/2006/main" noGrp="1"/>
          </p:cNvSpPr>
          <p:nvPr/>
        </p:nvSpPr>
        <p:spPr>
          <a:xfrm xmlns:a="http://schemas.openxmlformats.org/drawingml/2006/main">
            <a:off x="9096375" y="2657475"/>
            <a:ext cx="24860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D50"/>
                </a:solidFill>
                <a:latin typeface="Arial"/>
                <a:ea typeface="Arial"/>
                <a:cs typeface="Arial"/>
              </a:defRPr>
            </a:pPr>
            <a:r>
              <a:rPr sz="1800" b="0">
                <a:solidFill>
                  <a:srgbClr val="142D50"/>
                </a:solidFill>
                <a:latin typeface="Arial"/>
                <a:ea typeface="Arial"/>
                <a:cs typeface="Arial"/>
              </a:rPr>
              <a:t>Python tests passed</a:t>
            </a:r>
          </a:p>
          <a:p xmlns:a="http://schemas.openxmlformats.org/drawingml/2006/main">
            <a:pPr>
              <a:defRPr sz="1800" b="0">
                <a:solidFill>
                  <a:srgbClr val="142D50"/>
                </a:solidFill>
                <a:latin typeface="Arial"/>
                <a:ea typeface="Arial"/>
                <a:cs typeface="Arial"/>
              </a:defRPr>
            </a:pPr>
            <a:r>
              <a:rPr sz="1800" b="0">
                <a:solidFill>
                  <a:srgbClr val="142D50"/>
                </a:solidFill>
                <a:latin typeface="Arial"/>
                <a:ea typeface="Arial"/>
                <a:cs typeface="Arial"/>
              </a:rPr>
              <a:t>3 PostgreSQL tests</a:t>
            </a:r>
          </a:p>
          <a:p xmlns:a="http://schemas.openxmlformats.org/drawingml/2006/main">
            <a:pPr>
              <a:defRPr sz="1800" b="0">
                <a:solidFill>
                  <a:srgbClr val="142D50"/>
                </a:solidFill>
                <a:latin typeface="Arial"/>
                <a:ea typeface="Arial"/>
                <a:cs typeface="Arial"/>
              </a:defRPr>
            </a:pPr>
            <a:r>
              <a:rPr sz="1800" b="0">
                <a:solidFill>
                  <a:srgbClr val="142D50"/>
                </a:solidFill>
                <a:latin typeface="Arial"/>
                <a:ea typeface="Arial"/>
                <a:cs typeface="Arial"/>
              </a:rPr>
              <a:t>verified separately</a:t>
            </a:r>
          </a:p>
        </p:txBody>
      </p:sp>
      <p:sp>
        <p:nvSpPr>
          <p:cNvPr id="5" name="">
            <a:extLst xmlns:a="http://schemas.openxmlformats.org/drawingml/2006/main">
              <a:ext uri="{FF2B5EF4-FFF2-40B4-BE49-F238E27FC236}">
                <a16:creationId xmlns:a16="http://schemas.microsoft.com/office/drawing/2014/main" id="{DB3342CF-04DA-4DC0-9D58-321CA2C9ACE0}"/>
              </a:ext>
            </a:extLst>
          </p:cNvPr>
          <p:cNvSpPr>
            <a:spLocks xmlns:a="http://schemas.openxmlformats.org/drawingml/2006/main" noGrp="1"/>
          </p:cNvSpPr>
          <p:nvPr/>
        </p:nvSpPr>
        <p:spPr>
          <a:xfrm xmlns:a="http://schemas.openxmlformats.org/drawingml/2006/main">
            <a:off x="9096375" y="4514850"/>
            <a:ext cx="24860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50"/>
                </a:solidFill>
                <a:latin typeface="Arial"/>
                <a:ea typeface="Arial"/>
                <a:cs typeface="Arial"/>
              </a:defRPr>
            </a:pPr>
            <a:r>
              <a:rPr sz="1875" b="0">
                <a:solidFill>
                  <a:srgbClr val="142D50"/>
                </a:solidFill>
                <a:latin typeface="Arial"/>
                <a:ea typeface="Arial"/>
                <a:cs typeface="Arial"/>
              </a:rPr>
              <a:t>5 frontend tests</a:t>
            </a:r>
          </a:p>
          <a:p xmlns:a="http://schemas.openxmlformats.org/drawingml/2006/main">
            <a:pPr>
              <a:defRPr sz="1875" b="0">
                <a:solidFill>
                  <a:srgbClr val="142D50"/>
                </a:solidFill>
                <a:latin typeface="Arial"/>
                <a:ea typeface="Arial"/>
                <a:cs typeface="Arial"/>
              </a:defRPr>
            </a:pPr>
            <a:r>
              <a:rPr sz="1875" b="0">
                <a:solidFill>
                  <a:srgbClr val="142D50"/>
                </a:solidFill>
                <a:latin typeface="Arial"/>
                <a:ea typeface="Arial"/>
                <a:cs typeface="Arial"/>
              </a:rPr>
              <a:t>3 passing CI jobs</a:t>
            </a:r>
          </a:p>
        </p:txBody>
      </p:sp>
      <p:sp>
        <p:nvSpPr>
          <p:cNvPr id="6" name="">
            <a:extLst xmlns:a="http://schemas.openxmlformats.org/drawingml/2006/main">
              <a:ext uri="{FF2B5EF4-FFF2-40B4-BE49-F238E27FC236}">
                <a16:creationId xmlns:a16="http://schemas.microsoft.com/office/drawing/2014/main" id="{4BE3C512-22B5-4808-86B1-C66014762379}"/>
              </a:ext>
            </a:extLst>
          </p:cNvPr>
          <p:cNvSpPr>
            <a:spLocks xmlns:a="http://schemas.openxmlformats.org/drawingml/2006/main" noGrp="1"/>
          </p:cNvSpPr>
          <p:nvPr/>
        </p:nvSpPr>
        <p:spPr>
          <a:xfrm xmlns:a="http://schemas.openxmlformats.org/drawingml/2006/main">
            <a:off x="609600" y="60960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1677F"/>
                </a:solidFill>
                <a:latin typeface="Arial"/>
                <a:ea typeface="Arial"/>
                <a:cs typeface="Arial"/>
              </a:defRPr>
            </a:pPr>
            <a:r>
              <a:rPr sz="1725" b="0">
                <a:solidFill>
                  <a:srgbClr val="51677F"/>
                </a:solidFill>
                <a:latin typeface="Arial"/>
                <a:ea typeface="Arial"/>
                <a:cs typeface="Arial"/>
              </a:rPr>
              <a:t>The clone-only CI run has a smaller scope than full source and model verification.</a:t>
            </a:r>
          </a:p>
        </p:txBody>
      </p:sp>
    </p:spTree>
    <p:extLst>
      <p:ext uri="{BB962C8B-B14F-4D97-AF65-F5344CB8AC3E}">
        <p14:creationId xmlns:p14="http://schemas.microsoft.com/office/powerpoint/2010/main" val="484878722"/>
      </p:ext>
    </p:extLst>
  </p:cSld>
</p:sld>
</file>

<file path=ppt/slides/slide14.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6DA453-E37C-4B71-8E8B-2FA7DF652CE1}"/>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AWS deployment checkpoint</a:t>
            </a:r>
          </a:p>
        </p:txBody>
      </p:sp>
      <p:sp>
        <p:nvSpPr>
          <p:cNvPr id="2" name="">
            <a:extLst xmlns:a="http://schemas.openxmlformats.org/drawingml/2006/main">
              <a:ext uri="{FF2B5EF4-FFF2-40B4-BE49-F238E27FC236}">
                <a16:creationId xmlns:a16="http://schemas.microsoft.com/office/drawing/2014/main" id="{E8B2A449-113D-4B34-B5CE-008A221F913A}"/>
              </a:ext>
            </a:extLst>
          </p:cNvPr>
          <p:cNvSpPr>
            <a:spLocks xmlns:a="http://schemas.openxmlformats.org/drawingml/2006/main" noGrp="1"/>
          </p:cNvSpPr>
          <p:nvPr/>
        </p:nvSpPr>
        <p:spPr>
          <a:xfrm xmlns:a="http://schemas.openxmlformats.org/drawingml/2006/main">
            <a:off x="609600" y="1600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Verified: two AWS container builds and model loading in Linux.</a:t>
            </a:r>
          </a:p>
        </p:txBody>
      </p:sp>
      <p:sp>
        <p:nvSpPr>
          <p:cNvPr id="3" name="">
            <a:extLst xmlns:a="http://schemas.openxmlformats.org/drawingml/2006/main">
              <a:ext uri="{FF2B5EF4-FFF2-40B4-BE49-F238E27FC236}">
                <a16:creationId xmlns:a16="http://schemas.microsoft.com/office/drawing/2014/main" id="{C0D9A329-B323-452C-8D96-DA19EEDF2F38}"/>
              </a:ext>
            </a:extLst>
          </p:cNvPr>
          <p:cNvSpPr>
            <a:spLocks xmlns:a="http://schemas.openxmlformats.org/drawingml/2006/main" noGrp="1"/>
          </p:cNvSpPr>
          <p:nvPr/>
        </p:nvSpPr>
        <p:spPr>
          <a:xfrm xmlns:a="http://schemas.openxmlformats.org/drawingml/2006/main">
            <a:off x="609600" y="26384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Blocked: CloudFront account verification and RDS backup-plan limits.</a:t>
            </a:r>
          </a:p>
        </p:txBody>
      </p:sp>
      <p:sp>
        <p:nvSpPr>
          <p:cNvPr id="4" name="">
            <a:extLst xmlns:a="http://schemas.openxmlformats.org/drawingml/2006/main">
              <a:ext uri="{FF2B5EF4-FFF2-40B4-BE49-F238E27FC236}">
                <a16:creationId xmlns:a16="http://schemas.microsoft.com/office/drawing/2014/main" id="{A7E6F88E-436D-4E85-A29B-D4C249C9B4B2}"/>
              </a:ext>
            </a:extLst>
          </p:cNvPr>
          <p:cNvSpPr>
            <a:spLocks xmlns:a="http://schemas.openxmlformats.org/drawingml/2006/main" noGrp="1"/>
          </p:cNvSpPr>
          <p:nvPr/>
        </p:nvSpPr>
        <p:spPr>
          <a:xfrm xmlns:a="http://schemas.openxmlformats.org/drawingml/2006/main">
            <a:off x="609600" y="36766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In progress: Lightsail HTTPS container and persistent PostgreSQL.</a:t>
            </a:r>
          </a:p>
        </p:txBody>
      </p:sp>
      <p:sp>
        <p:nvSpPr>
          <p:cNvPr id="5" name="">
            <a:extLst xmlns:a="http://schemas.openxmlformats.org/drawingml/2006/main">
              <a:ext uri="{FF2B5EF4-FFF2-40B4-BE49-F238E27FC236}">
                <a16:creationId xmlns:a16="http://schemas.microsoft.com/office/drawing/2014/main" id="{60D9EB86-9E3D-4331-A998-FB414114DCCC}"/>
              </a:ext>
            </a:extLst>
          </p:cNvPr>
          <p:cNvSpPr>
            <a:spLocks xmlns:a="http://schemas.openxmlformats.org/drawingml/2006/main" noGrp="1"/>
          </p:cNvSpPr>
          <p:nvPr/>
        </p:nvSpPr>
        <p:spPr>
          <a:xfrm xmlns:a="http://schemas.openxmlformats.org/drawingml/2006/main">
            <a:off x="609600" y="47148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Remaining: database bootstrap, public demo and cloud flow verification.</a:t>
            </a:r>
          </a:p>
        </p:txBody>
      </p:sp>
      <p:sp>
        <p:nvSpPr>
          <p:cNvPr id="6" name="">
            <a:extLst xmlns:a="http://schemas.openxmlformats.org/drawingml/2006/main">
              <a:ext uri="{FF2B5EF4-FFF2-40B4-BE49-F238E27FC236}">
                <a16:creationId xmlns:a16="http://schemas.microsoft.com/office/drawing/2014/main" id="{B2136CEA-E6EC-4F2A-BDE3-1CE92058A1B8}"/>
              </a:ext>
            </a:extLst>
          </p:cNvPr>
          <p:cNvSpPr>
            <a:spLocks xmlns:a="http://schemas.openxmlformats.org/drawingml/2006/main" noGrp="1"/>
          </p:cNvSpPr>
          <p:nvPr/>
        </p:nvSpPr>
        <p:spPr>
          <a:xfrm xmlns:a="http://schemas.openxmlformats.org/drawingml/2006/main">
            <a:off x="609600" y="5848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34D1B"/>
                </a:solidFill>
                <a:latin typeface="Arial"/>
                <a:ea typeface="Arial"/>
                <a:cs typeface="Arial"/>
              </a:defRPr>
            </a:pPr>
            <a:r>
              <a:rPr sz="1725" b="0">
                <a:solidFill>
                  <a:srgbClr val="A34D1B"/>
                </a:solidFill>
                <a:latin typeface="Arial"/>
                <a:ea typeface="Arial"/>
                <a:cs typeface="Arial"/>
              </a:rPr>
              <a:t>Lightsail estimate: $30/month plus usage. Earlier infrastructure still incurs some charges.</a:t>
            </a:r>
          </a:p>
        </p:txBody>
      </p:sp>
    </p:spTree>
    <p:extLst>
      <p:ext uri="{BB962C8B-B14F-4D97-AF65-F5344CB8AC3E}">
        <p14:creationId xmlns:p14="http://schemas.microsoft.com/office/powerpoint/2010/main" val="407936951"/>
      </p:ext>
    </p:extLst>
  </p:cSld>
</p:sld>
</file>

<file path=ppt/slides/slide15.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CF0EBA-5FA0-4B3A-956F-8F82FACD9BBE}"/>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50"/>
                </a:solidFill>
                <a:latin typeface="Arial"/>
                <a:ea typeface="Arial"/>
                <a:cs typeface="Arial"/>
              </a:defRPr>
            </a:pPr>
            <a:r>
              <a:rPr sz="3300" b="1">
                <a:solidFill>
                  <a:srgbClr val="142D50"/>
                </a:solidFill>
                <a:latin typeface="Arial"/>
                <a:ea typeface="Arial"/>
                <a:cs typeface="Arial"/>
              </a:rPr>
              <a:t>Interim demonstration and next milestones</a:t>
            </a:r>
          </a:p>
        </p:txBody>
      </p:sp>
      <p:sp>
        <p:nvSpPr>
          <p:cNvPr id="2" name="">
            <a:extLst xmlns:a="http://schemas.openxmlformats.org/drawingml/2006/main">
              <a:ext uri="{FF2B5EF4-FFF2-40B4-BE49-F238E27FC236}">
                <a16:creationId xmlns:a16="http://schemas.microsoft.com/office/drawing/2014/main" id="{3165D8F4-B62F-4C76-B4E7-13E050C61131}"/>
              </a:ext>
            </a:extLst>
          </p:cNvPr>
          <p:cNvSpPr>
            <a:spLocks xmlns:a="http://schemas.openxmlformats.org/drawingml/2006/main" noGrp="1"/>
          </p:cNvSpPr>
          <p:nvPr/>
        </p:nvSpPr>
        <p:spPr>
          <a:xfrm xmlns:a="http://schemas.openxmlformats.org/drawingml/2006/main">
            <a:off x="609600" y="1562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1. Show the 2024 standings and Monaco race weekend.</a:t>
            </a:r>
          </a:p>
        </p:txBody>
      </p:sp>
      <p:sp>
        <p:nvSpPr>
          <p:cNvPr id="3" name="">
            <a:extLst xmlns:a="http://schemas.openxmlformats.org/drawingml/2006/main">
              <a:ext uri="{FF2B5EF4-FFF2-40B4-BE49-F238E27FC236}">
                <a16:creationId xmlns:a16="http://schemas.microsoft.com/office/drawing/2014/main" id="{68D8DAF2-64ED-463D-9B33-D83FC3CF6888}"/>
              </a:ext>
            </a:extLst>
          </p:cNvPr>
          <p:cNvSpPr>
            <a:spLocks xmlns:a="http://schemas.openxmlformats.org/drawingml/2006/main" noGrp="1"/>
          </p:cNvSpPr>
          <p:nvPr/>
        </p:nvSpPr>
        <p:spPr>
          <a:xfrm xmlns:a="http://schemas.openxmlformats.org/drawingml/2006/main">
            <a:off x="609600" y="2305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2. Open a driver profile, then explain a podium probability.</a:t>
            </a:r>
          </a:p>
        </p:txBody>
      </p:sp>
      <p:sp>
        <p:nvSpPr>
          <p:cNvPr id="4" name="">
            <a:extLst xmlns:a="http://schemas.openxmlformats.org/drawingml/2006/main">
              <a:ext uri="{FF2B5EF4-FFF2-40B4-BE49-F238E27FC236}">
                <a16:creationId xmlns:a16="http://schemas.microsoft.com/office/drawing/2014/main" id="{E608DDDC-4B49-4BF3-8F7D-E81D1D4EF16A}"/>
              </a:ext>
            </a:extLst>
          </p:cNvPr>
          <p:cNvSpPr>
            <a:spLocks xmlns:a="http://schemas.openxmlformats.org/drawingml/2006/main" noGrp="1"/>
          </p:cNvSpPr>
          <p:nvPr/>
        </p:nvSpPr>
        <p:spPr>
          <a:xfrm xmlns:a="http://schemas.openxmlformats.org/drawingml/2006/main">
            <a:off x="609600" y="30480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3. Ask a statistics question and inspect its SQL.</a:t>
            </a:r>
          </a:p>
        </p:txBody>
      </p:sp>
      <p:sp>
        <p:nvSpPr>
          <p:cNvPr id="5" name="">
            <a:extLst xmlns:a="http://schemas.openxmlformats.org/drawingml/2006/main">
              <a:ext uri="{FF2B5EF4-FFF2-40B4-BE49-F238E27FC236}">
                <a16:creationId xmlns:a16="http://schemas.microsoft.com/office/drawing/2014/main" id="{E4172FA5-8B40-4FED-9E78-3A2583A109E0}"/>
              </a:ext>
            </a:extLst>
          </p:cNvPr>
          <p:cNvSpPr>
            <a:spLocks xmlns:a="http://schemas.openxmlformats.org/drawingml/2006/main" noGrp="1"/>
          </p:cNvSpPr>
          <p:nvPr/>
        </p:nvSpPr>
        <p:spPr>
          <a:xfrm xmlns:a="http://schemas.openxmlformats.org/drawingml/2006/main">
            <a:off x="609600" y="37909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4. Ask the unsupported wet-weather question.</a:t>
            </a:r>
          </a:p>
        </p:txBody>
      </p:sp>
      <p:sp>
        <p:nvSpPr>
          <p:cNvPr id="6" name="">
            <a:extLst xmlns:a="http://schemas.openxmlformats.org/drawingml/2006/main">
              <a:ext uri="{FF2B5EF4-FFF2-40B4-BE49-F238E27FC236}">
                <a16:creationId xmlns:a16="http://schemas.microsoft.com/office/drawing/2014/main" id="{0605EDB9-01DC-47C8-8C37-00C391B33A79}"/>
              </a:ext>
            </a:extLst>
          </p:cNvPr>
          <p:cNvSpPr>
            <a:spLocks xmlns:a="http://schemas.openxmlformats.org/drawingml/2006/main" noGrp="1"/>
          </p:cNvSpPr>
          <p:nvPr/>
        </p:nvSpPr>
        <p:spPr>
          <a:xfrm xmlns:a="http://schemas.openxmlformats.org/drawingml/2006/main">
            <a:off x="609600" y="453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50"/>
                </a:solidFill>
                <a:latin typeface="Arial"/>
                <a:ea typeface="Arial"/>
                <a:cs typeface="Arial"/>
              </a:defRPr>
            </a:pPr>
            <a:r>
              <a:rPr sz="2100" b="0">
                <a:solidFill>
                  <a:srgbClr val="142D50"/>
                </a:solidFill>
                <a:latin typeface="Arial"/>
                <a:ea typeface="Arial"/>
                <a:cs typeface="Arial"/>
              </a:rPr>
              <a:t>5. Show Git history, CI and the preserved experiment reports.</a:t>
            </a:r>
          </a:p>
        </p:txBody>
      </p:sp>
      <p:sp>
        <p:nvSpPr>
          <p:cNvPr id="7" name="">
            <a:extLst xmlns:a="http://schemas.openxmlformats.org/drawingml/2006/main">
              <a:ext uri="{FF2B5EF4-FFF2-40B4-BE49-F238E27FC236}">
                <a16:creationId xmlns:a16="http://schemas.microsoft.com/office/drawing/2014/main" id="{A599EBFA-ECD0-4601-99D1-8CF8C43F98B6}"/>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45DD8"/>
                </a:solidFill>
                <a:latin typeface="Arial"/>
                <a:ea typeface="Arial"/>
                <a:cs typeface="Arial"/>
              </a:defRPr>
            </a:pPr>
            <a:r>
              <a:rPr sz="2100" b="1">
                <a:solidFill>
                  <a:srgbClr val="245DD8"/>
                </a:solidFill>
                <a:latin typeface="Arial"/>
                <a:ea typeface="Arial"/>
                <a:cs typeface="Arial"/>
              </a:rPr>
              <a:t>Next: finish cloud verification and update the final deployment evidence.</a:t>
            </a:r>
          </a:p>
        </p:txBody>
      </p:sp>
      <p:sp>
        <p:nvSpPr>
          <p:cNvPr id="8" name="">
            <a:extLst xmlns:a="http://schemas.openxmlformats.org/drawingml/2006/main">
              <a:ext uri="{FF2B5EF4-FFF2-40B4-BE49-F238E27FC236}">
                <a16:creationId xmlns:a16="http://schemas.microsoft.com/office/drawing/2014/main" id="{646C193B-CC20-4AE1-AF85-16A24B77E54D}"/>
              </a:ext>
            </a:extLst>
          </p:cNvPr>
          <p:cNvSpPr>
            <a:spLocks xmlns:a="http://schemas.openxmlformats.org/drawingml/2006/main" noGrp="1"/>
          </p:cNvSpPr>
          <p:nvPr/>
        </p:nvSpPr>
        <p:spPr>
          <a:xfrm xmlns:a="http://schemas.openxmlformats.org/drawingml/2006/main">
            <a:off x="609600" y="6153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AI-assisted engineering. All reported results come from executed project code.</a:t>
            </a:r>
          </a:p>
        </p:txBody>
      </p:sp>
    </p:spTree>
    <p:extLst>
      <p:ext uri="{BB962C8B-B14F-4D97-AF65-F5344CB8AC3E}">
        <p14:creationId xmlns:p14="http://schemas.microsoft.com/office/powerpoint/2010/main" val="8253098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2026-09-09T11:48:59.0580000Z</dcterms:created>
  <dcterms:modified xsi:type="dcterms:W3CDTF">2026-09-09T11:48:59.0580000Z</dcterms:modified>
</coreProperties>
</file>